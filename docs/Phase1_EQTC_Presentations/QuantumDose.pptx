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4285F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4285F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4285F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4285F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24966" y="5991573"/>
            <a:ext cx="2299360" cy="5908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6800" y="1383607"/>
            <a:ext cx="5526405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4285F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0145" y="2522726"/>
            <a:ext cx="8530590" cy="3345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1258767"/>
            <a:ext cx="9723117" cy="3527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" y="6049652"/>
            <a:ext cx="7134929" cy="4746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13442" y="2854661"/>
            <a:ext cx="4893310" cy="8470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400"/>
              <a:t>Quantum</a:t>
            </a:r>
            <a:r>
              <a:rPr dirty="0" sz="5400" spc="-250"/>
              <a:t> </a:t>
            </a:r>
            <a:r>
              <a:rPr dirty="0" sz="5400" spc="-20">
                <a:solidFill>
                  <a:srgbClr val="FFAB40"/>
                </a:solidFill>
              </a:rPr>
              <a:t>Dose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1217246" y="3818247"/>
            <a:ext cx="7814945" cy="1511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500" i="1">
                <a:solidFill>
                  <a:srgbClr val="4285F4"/>
                </a:solidFill>
                <a:latin typeface="Arial"/>
                <a:cs typeface="Arial"/>
              </a:rPr>
              <a:t>PK/PD</a:t>
            </a:r>
            <a:r>
              <a:rPr dirty="0" sz="3500" spc="-150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i="1">
                <a:solidFill>
                  <a:srgbClr val="4285F4"/>
                </a:solidFill>
                <a:latin typeface="Arial"/>
                <a:cs typeface="Arial"/>
              </a:rPr>
              <a:t>Modeling</a:t>
            </a:r>
            <a:r>
              <a:rPr dirty="0" sz="3500" spc="-150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i="1">
                <a:solidFill>
                  <a:srgbClr val="4285F4"/>
                </a:solidFill>
                <a:latin typeface="Arial"/>
                <a:cs typeface="Arial"/>
              </a:rPr>
              <a:t>Utilizing</a:t>
            </a:r>
            <a:r>
              <a:rPr dirty="0" sz="3500" spc="-150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spc="-10" i="1">
                <a:solidFill>
                  <a:srgbClr val="4285F4"/>
                </a:solidFill>
                <a:latin typeface="Arial"/>
                <a:cs typeface="Arial"/>
              </a:rPr>
              <a:t>Transformers,</a:t>
            </a:r>
            <a:r>
              <a:rPr dirty="0" sz="3500" spc="-10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i="1">
                <a:solidFill>
                  <a:srgbClr val="4285F4"/>
                </a:solidFill>
                <a:latin typeface="Arial"/>
                <a:cs typeface="Arial"/>
              </a:rPr>
              <a:t>QIHMC,</a:t>
            </a:r>
            <a:r>
              <a:rPr dirty="0" sz="3500" spc="-114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i="1">
                <a:solidFill>
                  <a:srgbClr val="4285F4"/>
                </a:solidFill>
                <a:latin typeface="Arial"/>
                <a:cs typeface="Arial"/>
              </a:rPr>
              <a:t>Quantum</a:t>
            </a:r>
            <a:r>
              <a:rPr dirty="0" sz="3500" spc="-105" i="1">
                <a:solidFill>
                  <a:srgbClr val="4285F4"/>
                </a:solidFill>
                <a:latin typeface="Arial"/>
                <a:cs typeface="Arial"/>
              </a:rPr>
              <a:t> </a:t>
            </a:r>
            <a:r>
              <a:rPr dirty="0" sz="3500" spc="-10" i="1">
                <a:solidFill>
                  <a:srgbClr val="4285F4"/>
                </a:solidFill>
                <a:latin typeface="Arial"/>
                <a:cs typeface="Arial"/>
              </a:rPr>
              <a:t>Kernels</a:t>
            </a:r>
            <a:endParaRPr sz="3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2700" b="1">
                <a:latin typeface="Arial"/>
                <a:cs typeface="Arial"/>
              </a:rPr>
              <a:t>Byoungwoo</a:t>
            </a:r>
            <a:r>
              <a:rPr dirty="0" sz="2700" spc="30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Kang,</a:t>
            </a:r>
            <a:r>
              <a:rPr dirty="0" sz="2700" spc="3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Thando</a:t>
            </a:r>
            <a:r>
              <a:rPr dirty="0" sz="2700" spc="35" b="1">
                <a:latin typeface="Arial"/>
                <a:cs typeface="Arial"/>
              </a:rPr>
              <a:t> </a:t>
            </a:r>
            <a:r>
              <a:rPr dirty="0" sz="2700" spc="-10" b="1">
                <a:latin typeface="Arial"/>
                <a:cs typeface="Arial"/>
              </a:rPr>
              <a:t>Khumalo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50749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924" y="2330410"/>
            <a:ext cx="7499350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b="1" i="1">
                <a:latin typeface="Arial"/>
                <a:cs typeface="Arial"/>
              </a:rPr>
              <a:t>Why</a:t>
            </a:r>
            <a:r>
              <a:rPr dirty="0" sz="2500" spc="6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add</a:t>
            </a:r>
            <a:r>
              <a:rPr dirty="0" sz="2500" spc="6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“Quantumness”</a:t>
            </a:r>
            <a:r>
              <a:rPr dirty="0" sz="2500" spc="6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to</a:t>
            </a:r>
            <a:r>
              <a:rPr dirty="0" sz="2500" spc="6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the</a:t>
            </a:r>
            <a:r>
              <a:rPr dirty="0" sz="2500" spc="70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PK/PD</a:t>
            </a:r>
            <a:r>
              <a:rPr dirty="0" sz="2500" spc="65" b="1" i="1">
                <a:latin typeface="Arial"/>
                <a:cs typeface="Arial"/>
              </a:rPr>
              <a:t> </a:t>
            </a:r>
            <a:r>
              <a:rPr dirty="0" sz="2500" spc="-10" b="1" i="1">
                <a:latin typeface="Arial"/>
                <a:cs typeface="Arial"/>
              </a:rPr>
              <a:t>problem?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3542" y="2134917"/>
            <a:ext cx="8463280" cy="0"/>
          </a:xfrm>
          <a:custGeom>
            <a:avLst/>
            <a:gdLst/>
            <a:ahLst/>
            <a:cxnLst/>
            <a:rect l="l" t="t" r="r" b="b"/>
            <a:pathLst>
              <a:path w="8463280" h="0">
                <a:moveTo>
                  <a:pt x="0" y="0"/>
                </a:moveTo>
                <a:lnTo>
                  <a:pt x="8462849" y="0"/>
                </a:lnTo>
              </a:path>
            </a:pathLst>
          </a:custGeom>
          <a:ln w="41909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664415" y="3125492"/>
            <a:ext cx="2781300" cy="1626870"/>
            <a:chOff x="3664415" y="3125492"/>
            <a:chExt cx="2781300" cy="1626870"/>
          </a:xfrm>
        </p:grpSpPr>
        <p:sp>
          <p:nvSpPr>
            <p:cNvPr id="6" name="object 6"/>
            <p:cNvSpPr/>
            <p:nvPr/>
          </p:nvSpPr>
          <p:spPr>
            <a:xfrm>
              <a:off x="3677959" y="3139036"/>
              <a:ext cx="2753995" cy="1599565"/>
            </a:xfrm>
            <a:custGeom>
              <a:avLst/>
              <a:gdLst/>
              <a:ahLst/>
              <a:cxnLst/>
              <a:rect l="l" t="t" r="r" b="b"/>
              <a:pathLst>
                <a:path w="2753995" h="1599564">
                  <a:moveTo>
                    <a:pt x="0" y="1107374"/>
                  </a:moveTo>
                  <a:lnTo>
                    <a:pt x="16557" y="1129739"/>
                  </a:lnTo>
                  <a:lnTo>
                    <a:pt x="36826" y="1160600"/>
                  </a:lnTo>
                  <a:lnTo>
                    <a:pt x="60362" y="1198325"/>
                  </a:lnTo>
                  <a:lnTo>
                    <a:pt x="86720" y="1241280"/>
                  </a:lnTo>
                  <a:lnTo>
                    <a:pt x="115453" y="1287834"/>
                  </a:lnTo>
                  <a:lnTo>
                    <a:pt x="146117" y="1336354"/>
                  </a:lnTo>
                  <a:lnTo>
                    <a:pt x="178266" y="1385209"/>
                  </a:lnTo>
                  <a:lnTo>
                    <a:pt x="211454" y="1432764"/>
                  </a:lnTo>
                  <a:lnTo>
                    <a:pt x="245237" y="1477389"/>
                  </a:lnTo>
                  <a:lnTo>
                    <a:pt x="279168" y="1517450"/>
                  </a:lnTo>
                  <a:lnTo>
                    <a:pt x="312802" y="1551316"/>
                  </a:lnTo>
                  <a:lnTo>
                    <a:pt x="345694" y="1577354"/>
                  </a:lnTo>
                  <a:lnTo>
                    <a:pt x="407470" y="1599415"/>
                  </a:lnTo>
                  <a:lnTo>
                    <a:pt x="436108" y="1595251"/>
                  </a:lnTo>
                  <a:lnTo>
                    <a:pt x="491226" y="1566963"/>
                  </a:lnTo>
                  <a:lnTo>
                    <a:pt x="544904" y="1515155"/>
                  </a:lnTo>
                  <a:lnTo>
                    <a:pt x="571743" y="1481589"/>
                  </a:lnTo>
                  <a:lnTo>
                    <a:pt x="598871" y="1443535"/>
                  </a:lnTo>
                  <a:lnTo>
                    <a:pt x="626502" y="1401455"/>
                  </a:lnTo>
                  <a:lnTo>
                    <a:pt x="654853" y="1355813"/>
                  </a:lnTo>
                  <a:lnTo>
                    <a:pt x="684141" y="1307074"/>
                  </a:lnTo>
                  <a:lnTo>
                    <a:pt x="714580" y="1255700"/>
                  </a:lnTo>
                  <a:lnTo>
                    <a:pt x="746388" y="1202155"/>
                  </a:lnTo>
                  <a:lnTo>
                    <a:pt x="779779" y="1146904"/>
                  </a:lnTo>
                  <a:lnTo>
                    <a:pt x="814970" y="1090409"/>
                  </a:lnTo>
                  <a:lnTo>
                    <a:pt x="832532" y="1060727"/>
                  </a:lnTo>
                  <a:lnTo>
                    <a:pt x="850302" y="1026940"/>
                  </a:lnTo>
                  <a:lnTo>
                    <a:pt x="868283" y="989442"/>
                  </a:lnTo>
                  <a:lnTo>
                    <a:pt x="886480" y="948629"/>
                  </a:lnTo>
                  <a:lnTo>
                    <a:pt x="904894" y="904895"/>
                  </a:lnTo>
                  <a:lnTo>
                    <a:pt x="923529" y="858634"/>
                  </a:lnTo>
                  <a:lnTo>
                    <a:pt x="942388" y="810240"/>
                  </a:lnTo>
                  <a:lnTo>
                    <a:pt x="961474" y="760109"/>
                  </a:lnTo>
                  <a:lnTo>
                    <a:pt x="980789" y="708634"/>
                  </a:lnTo>
                  <a:lnTo>
                    <a:pt x="1000338" y="656210"/>
                  </a:lnTo>
                  <a:lnTo>
                    <a:pt x="1020122" y="603232"/>
                  </a:lnTo>
                  <a:lnTo>
                    <a:pt x="1040146" y="550094"/>
                  </a:lnTo>
                  <a:lnTo>
                    <a:pt x="1060411" y="497190"/>
                  </a:lnTo>
                  <a:lnTo>
                    <a:pt x="1080921" y="444915"/>
                  </a:lnTo>
                  <a:lnTo>
                    <a:pt x="1101680" y="393664"/>
                  </a:lnTo>
                  <a:lnTo>
                    <a:pt x="1122690" y="343830"/>
                  </a:lnTo>
                  <a:lnTo>
                    <a:pt x="1143953" y="295808"/>
                  </a:lnTo>
                  <a:lnTo>
                    <a:pt x="1165474" y="249994"/>
                  </a:lnTo>
                  <a:lnTo>
                    <a:pt x="1187256" y="206780"/>
                  </a:lnTo>
                  <a:lnTo>
                    <a:pt x="1209300" y="166562"/>
                  </a:lnTo>
                  <a:lnTo>
                    <a:pt x="1231611" y="129735"/>
                  </a:lnTo>
                  <a:lnTo>
                    <a:pt x="1254191" y="96692"/>
                  </a:lnTo>
                  <a:lnTo>
                    <a:pt x="1300171" y="43537"/>
                  </a:lnTo>
                  <a:lnTo>
                    <a:pt x="1347265" y="10254"/>
                  </a:lnTo>
                  <a:lnTo>
                    <a:pt x="1395497" y="0"/>
                  </a:lnTo>
                  <a:lnTo>
                    <a:pt x="1420047" y="4494"/>
                  </a:lnTo>
                  <a:lnTo>
                    <a:pt x="1459836" y="27048"/>
                  </a:lnTo>
                  <a:lnTo>
                    <a:pt x="1501604" y="68502"/>
                  </a:lnTo>
                  <a:lnTo>
                    <a:pt x="1545094" y="126684"/>
                  </a:lnTo>
                  <a:lnTo>
                    <a:pt x="1567405" y="161370"/>
                  </a:lnTo>
                  <a:lnTo>
                    <a:pt x="1590049" y="199424"/>
                  </a:lnTo>
                  <a:lnTo>
                    <a:pt x="1612995" y="240575"/>
                  </a:lnTo>
                  <a:lnTo>
                    <a:pt x="1636211" y="284551"/>
                  </a:lnTo>
                  <a:lnTo>
                    <a:pt x="1659664" y="331082"/>
                  </a:lnTo>
                  <a:lnTo>
                    <a:pt x="1683322" y="379895"/>
                  </a:lnTo>
                  <a:lnTo>
                    <a:pt x="1707153" y="430720"/>
                  </a:lnTo>
                  <a:lnTo>
                    <a:pt x="1731126" y="483285"/>
                  </a:lnTo>
                  <a:lnTo>
                    <a:pt x="1755206" y="537319"/>
                  </a:lnTo>
                  <a:lnTo>
                    <a:pt x="1779364" y="592551"/>
                  </a:lnTo>
                  <a:lnTo>
                    <a:pt x="1803566" y="648708"/>
                  </a:lnTo>
                  <a:lnTo>
                    <a:pt x="1827780" y="705521"/>
                  </a:lnTo>
                  <a:lnTo>
                    <a:pt x="1851974" y="762717"/>
                  </a:lnTo>
                  <a:lnTo>
                    <a:pt x="1876116" y="820025"/>
                  </a:lnTo>
                  <a:lnTo>
                    <a:pt x="1900173" y="877175"/>
                  </a:lnTo>
                  <a:lnTo>
                    <a:pt x="1924114" y="933893"/>
                  </a:lnTo>
                  <a:lnTo>
                    <a:pt x="1947906" y="989910"/>
                  </a:lnTo>
                  <a:lnTo>
                    <a:pt x="1971518" y="1044954"/>
                  </a:lnTo>
                  <a:lnTo>
                    <a:pt x="1994916" y="1098754"/>
                  </a:lnTo>
                  <a:lnTo>
                    <a:pt x="2018069" y="1151038"/>
                  </a:lnTo>
                  <a:lnTo>
                    <a:pt x="2040945" y="1201534"/>
                  </a:lnTo>
                  <a:lnTo>
                    <a:pt x="2063511" y="1249973"/>
                  </a:lnTo>
                  <a:lnTo>
                    <a:pt x="2085735" y="1296081"/>
                  </a:lnTo>
                  <a:lnTo>
                    <a:pt x="2107586" y="1339589"/>
                  </a:lnTo>
                  <a:lnTo>
                    <a:pt x="2129030" y="1380224"/>
                  </a:lnTo>
                  <a:lnTo>
                    <a:pt x="2150036" y="1417716"/>
                  </a:lnTo>
                  <a:lnTo>
                    <a:pt x="2170571" y="1451792"/>
                  </a:lnTo>
                  <a:lnTo>
                    <a:pt x="2210102" y="1508614"/>
                  </a:lnTo>
                  <a:lnTo>
                    <a:pt x="2247365" y="1548521"/>
                  </a:lnTo>
                  <a:lnTo>
                    <a:pt x="2282258" y="1572639"/>
                  </a:lnTo>
                  <a:lnTo>
                    <a:pt x="2350591" y="1589188"/>
                  </a:lnTo>
                  <a:lnTo>
                    <a:pt x="2383870" y="1583682"/>
                  </a:lnTo>
                  <a:lnTo>
                    <a:pt x="2448244" y="1550264"/>
                  </a:lnTo>
                  <a:lnTo>
                    <a:pt x="2479178" y="1524416"/>
                  </a:lnTo>
                  <a:lnTo>
                    <a:pt x="2509169" y="1493850"/>
                  </a:lnTo>
                  <a:lnTo>
                    <a:pt x="2538136" y="1459599"/>
                  </a:lnTo>
                  <a:lnTo>
                    <a:pt x="2565997" y="1422694"/>
                  </a:lnTo>
                  <a:lnTo>
                    <a:pt x="2592672" y="1384165"/>
                  </a:lnTo>
                  <a:lnTo>
                    <a:pt x="2618079" y="1345046"/>
                  </a:lnTo>
                  <a:lnTo>
                    <a:pt x="2642138" y="1306367"/>
                  </a:lnTo>
                  <a:lnTo>
                    <a:pt x="2664768" y="1269160"/>
                  </a:lnTo>
                  <a:lnTo>
                    <a:pt x="2685887" y="1234456"/>
                  </a:lnTo>
                  <a:lnTo>
                    <a:pt x="2705415" y="1203287"/>
                  </a:lnTo>
                  <a:lnTo>
                    <a:pt x="2723271" y="1176685"/>
                  </a:lnTo>
                  <a:lnTo>
                    <a:pt x="2739373" y="1155681"/>
                  </a:lnTo>
                  <a:lnTo>
                    <a:pt x="2753640" y="1141306"/>
                  </a:lnTo>
                </a:path>
              </a:pathLst>
            </a:custGeom>
            <a:ln w="27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46062" y="4353877"/>
              <a:ext cx="267335" cy="292735"/>
            </a:xfrm>
            <a:custGeom>
              <a:avLst/>
              <a:gdLst/>
              <a:ahLst/>
              <a:cxnLst/>
              <a:rect l="l" t="t" r="r" b="b"/>
              <a:pathLst>
                <a:path w="267335" h="292735">
                  <a:moveTo>
                    <a:pt x="133649" y="0"/>
                  </a:moveTo>
                  <a:lnTo>
                    <a:pt x="91406" y="7461"/>
                  </a:lnTo>
                  <a:lnTo>
                    <a:pt x="54718" y="28238"/>
                  </a:lnTo>
                  <a:lnTo>
                    <a:pt x="25786" y="59919"/>
                  </a:lnTo>
                  <a:lnTo>
                    <a:pt x="6813" y="100095"/>
                  </a:lnTo>
                  <a:lnTo>
                    <a:pt x="0" y="146354"/>
                  </a:lnTo>
                  <a:lnTo>
                    <a:pt x="6813" y="192614"/>
                  </a:lnTo>
                  <a:lnTo>
                    <a:pt x="25786" y="232789"/>
                  </a:lnTo>
                  <a:lnTo>
                    <a:pt x="54718" y="264471"/>
                  </a:lnTo>
                  <a:lnTo>
                    <a:pt x="91406" y="285248"/>
                  </a:lnTo>
                  <a:lnTo>
                    <a:pt x="133649" y="292709"/>
                  </a:lnTo>
                  <a:lnTo>
                    <a:pt x="175893" y="285248"/>
                  </a:lnTo>
                  <a:lnTo>
                    <a:pt x="212582" y="264471"/>
                  </a:lnTo>
                  <a:lnTo>
                    <a:pt x="241513" y="232789"/>
                  </a:lnTo>
                  <a:lnTo>
                    <a:pt x="260487" y="192614"/>
                  </a:lnTo>
                  <a:lnTo>
                    <a:pt x="267300" y="146354"/>
                  </a:lnTo>
                  <a:lnTo>
                    <a:pt x="264708" y="117668"/>
                  </a:lnTo>
                  <a:lnTo>
                    <a:pt x="244845" y="65157"/>
                  </a:lnTo>
                  <a:lnTo>
                    <a:pt x="207799" y="24589"/>
                  </a:lnTo>
                  <a:lnTo>
                    <a:pt x="159845" y="2838"/>
                  </a:lnTo>
                  <a:lnTo>
                    <a:pt x="133649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1489" y="3996052"/>
              <a:ext cx="511088" cy="53649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13383" y="4000565"/>
              <a:ext cx="267335" cy="292735"/>
            </a:xfrm>
            <a:custGeom>
              <a:avLst/>
              <a:gdLst/>
              <a:ahLst/>
              <a:cxnLst/>
              <a:rect l="l" t="t" r="r" b="b"/>
              <a:pathLst>
                <a:path w="267335" h="292735">
                  <a:moveTo>
                    <a:pt x="133649" y="0"/>
                  </a:moveTo>
                  <a:lnTo>
                    <a:pt x="91406" y="7461"/>
                  </a:lnTo>
                  <a:lnTo>
                    <a:pt x="54718" y="28238"/>
                  </a:lnTo>
                  <a:lnTo>
                    <a:pt x="25786" y="59919"/>
                  </a:lnTo>
                  <a:lnTo>
                    <a:pt x="6813" y="100095"/>
                  </a:lnTo>
                  <a:lnTo>
                    <a:pt x="0" y="146354"/>
                  </a:lnTo>
                  <a:lnTo>
                    <a:pt x="6813" y="192614"/>
                  </a:lnTo>
                  <a:lnTo>
                    <a:pt x="25786" y="232790"/>
                  </a:lnTo>
                  <a:lnTo>
                    <a:pt x="54718" y="264472"/>
                  </a:lnTo>
                  <a:lnTo>
                    <a:pt x="91406" y="285249"/>
                  </a:lnTo>
                  <a:lnTo>
                    <a:pt x="133649" y="292710"/>
                  </a:lnTo>
                  <a:lnTo>
                    <a:pt x="175893" y="285249"/>
                  </a:lnTo>
                  <a:lnTo>
                    <a:pt x="212581" y="264472"/>
                  </a:lnTo>
                  <a:lnTo>
                    <a:pt x="241513" y="232790"/>
                  </a:lnTo>
                  <a:lnTo>
                    <a:pt x="260485" y="192614"/>
                  </a:lnTo>
                  <a:lnTo>
                    <a:pt x="267299" y="146354"/>
                  </a:lnTo>
                  <a:lnTo>
                    <a:pt x="264707" y="117669"/>
                  </a:lnTo>
                  <a:lnTo>
                    <a:pt x="244844" y="65157"/>
                  </a:lnTo>
                  <a:lnTo>
                    <a:pt x="207798" y="24589"/>
                  </a:lnTo>
                  <a:lnTo>
                    <a:pt x="159845" y="2838"/>
                  </a:lnTo>
                  <a:lnTo>
                    <a:pt x="133649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0866" y="3557105"/>
              <a:ext cx="511088" cy="5364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12761" y="3561619"/>
              <a:ext cx="267335" cy="292735"/>
            </a:xfrm>
            <a:custGeom>
              <a:avLst/>
              <a:gdLst/>
              <a:ahLst/>
              <a:cxnLst/>
              <a:rect l="l" t="t" r="r" b="b"/>
              <a:pathLst>
                <a:path w="267335" h="292735">
                  <a:moveTo>
                    <a:pt x="133649" y="0"/>
                  </a:moveTo>
                  <a:lnTo>
                    <a:pt x="91405" y="7461"/>
                  </a:lnTo>
                  <a:lnTo>
                    <a:pt x="54717" y="28238"/>
                  </a:lnTo>
                  <a:lnTo>
                    <a:pt x="25786" y="59919"/>
                  </a:lnTo>
                  <a:lnTo>
                    <a:pt x="6813" y="100096"/>
                  </a:lnTo>
                  <a:lnTo>
                    <a:pt x="0" y="146356"/>
                  </a:lnTo>
                  <a:lnTo>
                    <a:pt x="6813" y="192615"/>
                  </a:lnTo>
                  <a:lnTo>
                    <a:pt x="25786" y="232791"/>
                  </a:lnTo>
                  <a:lnTo>
                    <a:pt x="54717" y="264472"/>
                  </a:lnTo>
                  <a:lnTo>
                    <a:pt x="91405" y="285249"/>
                  </a:lnTo>
                  <a:lnTo>
                    <a:pt x="133649" y="292710"/>
                  </a:lnTo>
                  <a:lnTo>
                    <a:pt x="175893" y="285249"/>
                  </a:lnTo>
                  <a:lnTo>
                    <a:pt x="212581" y="264472"/>
                  </a:lnTo>
                  <a:lnTo>
                    <a:pt x="241512" y="232791"/>
                  </a:lnTo>
                  <a:lnTo>
                    <a:pt x="260485" y="192615"/>
                  </a:lnTo>
                  <a:lnTo>
                    <a:pt x="267299" y="146356"/>
                  </a:lnTo>
                  <a:lnTo>
                    <a:pt x="264707" y="117669"/>
                  </a:lnTo>
                  <a:lnTo>
                    <a:pt x="244844" y="65157"/>
                  </a:lnTo>
                  <a:lnTo>
                    <a:pt x="207798" y="24589"/>
                  </a:lnTo>
                  <a:lnTo>
                    <a:pt x="159844" y="2838"/>
                  </a:lnTo>
                  <a:lnTo>
                    <a:pt x="133649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005437" y="5353683"/>
            <a:ext cx="2097405" cy="561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2240" marR="5080" indent="-130175">
              <a:lnSpc>
                <a:spcPct val="100600"/>
              </a:lnSpc>
              <a:spcBef>
                <a:spcPts val="95"/>
              </a:spcBef>
            </a:pPr>
            <a:r>
              <a:rPr dirty="0" sz="1750" b="1">
                <a:latin typeface="Arial"/>
                <a:cs typeface="Arial"/>
              </a:rPr>
              <a:t>Poor</a:t>
            </a:r>
            <a:r>
              <a:rPr dirty="0" sz="1750" spc="-20" b="1">
                <a:latin typeface="Arial"/>
                <a:cs typeface="Arial"/>
              </a:rPr>
              <a:t> </a:t>
            </a:r>
            <a:r>
              <a:rPr dirty="0" sz="1750" b="1">
                <a:latin typeface="Arial"/>
                <a:cs typeface="Arial"/>
              </a:rPr>
              <a:t>Exploration</a:t>
            </a:r>
            <a:r>
              <a:rPr dirty="0" sz="1750" spc="-25" b="1">
                <a:latin typeface="Arial"/>
                <a:cs typeface="Arial"/>
              </a:rPr>
              <a:t> of </a:t>
            </a:r>
            <a:r>
              <a:rPr dirty="0" sz="1750" b="1">
                <a:latin typeface="Arial"/>
                <a:cs typeface="Arial"/>
              </a:rPr>
              <a:t>Parameter</a:t>
            </a:r>
            <a:r>
              <a:rPr dirty="0" sz="1750" spc="-40" b="1">
                <a:latin typeface="Arial"/>
                <a:cs typeface="Arial"/>
              </a:rPr>
              <a:t> </a:t>
            </a:r>
            <a:r>
              <a:rPr dirty="0" sz="1750" spc="-10" b="1">
                <a:latin typeface="Arial"/>
                <a:cs typeface="Arial"/>
              </a:rPr>
              <a:t>Space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9947" y="3603362"/>
            <a:ext cx="1707514" cy="1490980"/>
            <a:chOff x="959947" y="3603362"/>
            <a:chExt cx="1707514" cy="1490980"/>
          </a:xfrm>
        </p:grpSpPr>
        <p:sp>
          <p:nvSpPr>
            <p:cNvPr id="14" name="object 14"/>
            <p:cNvSpPr/>
            <p:nvPr/>
          </p:nvSpPr>
          <p:spPr>
            <a:xfrm>
              <a:off x="1334663" y="3978077"/>
              <a:ext cx="1329055" cy="1112520"/>
            </a:xfrm>
            <a:custGeom>
              <a:avLst/>
              <a:gdLst/>
              <a:ahLst/>
              <a:cxnLst/>
              <a:rect l="l" t="t" r="r" b="b"/>
              <a:pathLst>
                <a:path w="1329055" h="1112520">
                  <a:moveTo>
                    <a:pt x="1328745" y="0"/>
                  </a:moveTo>
                  <a:lnTo>
                    <a:pt x="0" y="0"/>
                  </a:lnTo>
                  <a:lnTo>
                    <a:pt x="0" y="1112264"/>
                  </a:lnTo>
                  <a:lnTo>
                    <a:pt x="1328745" y="1112264"/>
                  </a:lnTo>
                  <a:lnTo>
                    <a:pt x="1328745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63908" y="3607321"/>
              <a:ext cx="1699895" cy="370840"/>
            </a:xfrm>
            <a:custGeom>
              <a:avLst/>
              <a:gdLst/>
              <a:ahLst/>
              <a:cxnLst/>
              <a:rect l="l" t="t" r="r" b="b"/>
              <a:pathLst>
                <a:path w="1699895" h="370839">
                  <a:moveTo>
                    <a:pt x="1328745" y="0"/>
                  </a:moveTo>
                  <a:lnTo>
                    <a:pt x="0" y="0"/>
                  </a:lnTo>
                  <a:lnTo>
                    <a:pt x="370755" y="370756"/>
                  </a:lnTo>
                  <a:lnTo>
                    <a:pt x="1699500" y="370756"/>
                  </a:lnTo>
                  <a:lnTo>
                    <a:pt x="1328745" y="0"/>
                  </a:lnTo>
                  <a:close/>
                </a:path>
              </a:pathLst>
            </a:custGeom>
            <a:solidFill>
              <a:srgbClr val="346A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63908" y="3607321"/>
              <a:ext cx="370840" cy="1483360"/>
            </a:xfrm>
            <a:custGeom>
              <a:avLst/>
              <a:gdLst/>
              <a:ahLst/>
              <a:cxnLst/>
              <a:rect l="l" t="t" r="r" b="b"/>
              <a:pathLst>
                <a:path w="370840" h="1483360">
                  <a:moveTo>
                    <a:pt x="0" y="0"/>
                  </a:moveTo>
                  <a:lnTo>
                    <a:pt x="0" y="1112266"/>
                  </a:lnTo>
                  <a:lnTo>
                    <a:pt x="370755" y="1483020"/>
                  </a:lnTo>
                  <a:lnTo>
                    <a:pt x="370755" y="370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9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63907" y="3607322"/>
              <a:ext cx="1699895" cy="1483360"/>
            </a:xfrm>
            <a:custGeom>
              <a:avLst/>
              <a:gdLst/>
              <a:ahLst/>
              <a:cxnLst/>
              <a:rect l="l" t="t" r="r" b="b"/>
              <a:pathLst>
                <a:path w="1699895" h="1483360">
                  <a:moveTo>
                    <a:pt x="370754" y="1483019"/>
                  </a:moveTo>
                  <a:lnTo>
                    <a:pt x="0" y="1112264"/>
                  </a:lnTo>
                  <a:lnTo>
                    <a:pt x="0" y="0"/>
                  </a:lnTo>
                  <a:lnTo>
                    <a:pt x="1328744" y="0"/>
                  </a:lnTo>
                  <a:lnTo>
                    <a:pt x="1699499" y="370754"/>
                  </a:lnTo>
                  <a:lnTo>
                    <a:pt x="1699499" y="1483019"/>
                  </a:lnTo>
                  <a:lnTo>
                    <a:pt x="370754" y="1483019"/>
                  </a:lnTo>
                  <a:close/>
                </a:path>
                <a:path w="1699895" h="1483360">
                  <a:moveTo>
                    <a:pt x="370754" y="1483019"/>
                  </a:moveTo>
                  <a:lnTo>
                    <a:pt x="370754" y="370754"/>
                  </a:lnTo>
                  <a:lnTo>
                    <a:pt x="0" y="0"/>
                  </a:lnTo>
                </a:path>
                <a:path w="1699895" h="1483360">
                  <a:moveTo>
                    <a:pt x="370754" y="370754"/>
                  </a:moveTo>
                  <a:lnTo>
                    <a:pt x="1699499" y="370754"/>
                  </a:lnTo>
                </a:path>
              </a:pathLst>
            </a:custGeom>
            <a:ln w="791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36137" y="2950096"/>
            <a:ext cx="501015" cy="1051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700" spc="-5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6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1543" y="5373347"/>
            <a:ext cx="156400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b="1">
                <a:latin typeface="Arial"/>
                <a:cs typeface="Arial"/>
              </a:rPr>
              <a:t>Choice</a:t>
            </a:r>
            <a:r>
              <a:rPr dirty="0" sz="1750" spc="-20" b="1">
                <a:latin typeface="Arial"/>
                <a:cs typeface="Arial"/>
              </a:rPr>
              <a:t> </a:t>
            </a:r>
            <a:r>
              <a:rPr dirty="0" sz="1750" b="1">
                <a:latin typeface="Arial"/>
                <a:cs typeface="Arial"/>
              </a:rPr>
              <a:t>of</a:t>
            </a:r>
            <a:r>
              <a:rPr dirty="0" sz="1750" spc="-15" b="1">
                <a:latin typeface="Arial"/>
                <a:cs typeface="Arial"/>
              </a:rPr>
              <a:t> </a:t>
            </a:r>
            <a:r>
              <a:rPr dirty="0" sz="1750" spc="-25" b="1">
                <a:latin typeface="Arial"/>
                <a:cs typeface="Arial"/>
              </a:rPr>
              <a:t>PDE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76259" y="3241393"/>
            <a:ext cx="2190750" cy="1733550"/>
            <a:chOff x="6976259" y="3241393"/>
            <a:chExt cx="2190750" cy="1733550"/>
          </a:xfrm>
        </p:grpSpPr>
        <p:sp>
          <p:nvSpPr>
            <p:cNvPr id="21" name="object 21"/>
            <p:cNvSpPr/>
            <p:nvPr/>
          </p:nvSpPr>
          <p:spPr>
            <a:xfrm>
              <a:off x="6998803" y="3294179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w="0" h="1658620">
                  <a:moveTo>
                    <a:pt x="0" y="1658084"/>
                  </a:moveTo>
                  <a:lnTo>
                    <a:pt x="0" y="0"/>
                  </a:lnTo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81498" y="3246631"/>
              <a:ext cx="34925" cy="47625"/>
            </a:xfrm>
            <a:custGeom>
              <a:avLst/>
              <a:gdLst/>
              <a:ahLst/>
              <a:cxnLst/>
              <a:rect l="l" t="t" r="r" b="b"/>
              <a:pathLst>
                <a:path w="34925" h="47625">
                  <a:moveTo>
                    <a:pt x="34611" y="47548"/>
                  </a:moveTo>
                  <a:lnTo>
                    <a:pt x="0" y="47548"/>
                  </a:lnTo>
                  <a:lnTo>
                    <a:pt x="17305" y="0"/>
                  </a:lnTo>
                  <a:lnTo>
                    <a:pt x="34611" y="4754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981498" y="3246631"/>
              <a:ext cx="34925" cy="47625"/>
            </a:xfrm>
            <a:custGeom>
              <a:avLst/>
              <a:gdLst/>
              <a:ahLst/>
              <a:cxnLst/>
              <a:rect l="l" t="t" r="r" b="b"/>
              <a:pathLst>
                <a:path w="34925" h="47625">
                  <a:moveTo>
                    <a:pt x="34611" y="47548"/>
                  </a:moveTo>
                  <a:lnTo>
                    <a:pt x="17305" y="0"/>
                  </a:lnTo>
                  <a:lnTo>
                    <a:pt x="0" y="47548"/>
                  </a:lnTo>
                  <a:lnTo>
                    <a:pt x="34611" y="47548"/>
                  </a:lnTo>
                  <a:close/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998803" y="4952322"/>
              <a:ext cx="2115185" cy="2540"/>
            </a:xfrm>
            <a:custGeom>
              <a:avLst/>
              <a:gdLst/>
              <a:ahLst/>
              <a:cxnLst/>
              <a:rect l="l" t="t" r="r" b="b"/>
              <a:pathLst>
                <a:path w="2115184" h="2539">
                  <a:moveTo>
                    <a:pt x="0" y="1922"/>
                  </a:moveTo>
                  <a:lnTo>
                    <a:pt x="2115134" y="0"/>
                  </a:lnTo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13922" y="4935016"/>
              <a:ext cx="47625" cy="34925"/>
            </a:xfrm>
            <a:custGeom>
              <a:avLst/>
              <a:gdLst/>
              <a:ahLst/>
              <a:cxnLst/>
              <a:rect l="l" t="t" r="r" b="b"/>
              <a:pathLst>
                <a:path w="47625" h="34925">
                  <a:moveTo>
                    <a:pt x="32" y="34611"/>
                  </a:moveTo>
                  <a:lnTo>
                    <a:pt x="0" y="0"/>
                  </a:lnTo>
                  <a:lnTo>
                    <a:pt x="47563" y="17261"/>
                  </a:lnTo>
                  <a:lnTo>
                    <a:pt x="32" y="3461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13922" y="4935016"/>
              <a:ext cx="47625" cy="34925"/>
            </a:xfrm>
            <a:custGeom>
              <a:avLst/>
              <a:gdLst/>
              <a:ahLst/>
              <a:cxnLst/>
              <a:rect l="l" t="t" r="r" b="b"/>
              <a:pathLst>
                <a:path w="47625" h="34925">
                  <a:moveTo>
                    <a:pt x="32" y="34611"/>
                  </a:moveTo>
                  <a:lnTo>
                    <a:pt x="47563" y="17261"/>
                  </a:lnTo>
                  <a:lnTo>
                    <a:pt x="0" y="0"/>
                  </a:lnTo>
                  <a:lnTo>
                    <a:pt x="32" y="34611"/>
                  </a:lnTo>
                  <a:close/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6770" y="3499701"/>
              <a:ext cx="189007" cy="1645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9270" y="3316688"/>
              <a:ext cx="189007" cy="1645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2050" y="3834981"/>
              <a:ext cx="189007" cy="16458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342296" y="5352734"/>
            <a:ext cx="149098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b="1">
                <a:latin typeface="Arial"/>
                <a:cs typeface="Arial"/>
              </a:rPr>
              <a:t>Small</a:t>
            </a:r>
            <a:r>
              <a:rPr dirty="0" sz="1750" spc="-15" b="1">
                <a:latin typeface="Arial"/>
                <a:cs typeface="Arial"/>
              </a:rPr>
              <a:t> </a:t>
            </a:r>
            <a:r>
              <a:rPr dirty="0" sz="1750" spc="-10" b="1">
                <a:latin typeface="Arial"/>
                <a:cs typeface="Arial"/>
              </a:rPr>
              <a:t>Dataset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224" y="4770394"/>
            <a:ext cx="2833349" cy="1260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Quantum</a:t>
            </a:r>
            <a:r>
              <a:rPr dirty="0" spc="-30"/>
              <a:t> </a:t>
            </a:r>
            <a:r>
              <a:rPr dirty="0"/>
              <a:t>Dose</a:t>
            </a:r>
            <a:r>
              <a:rPr dirty="0" spc="-20"/>
              <a:t> </a:t>
            </a:r>
            <a:r>
              <a:rPr dirty="0" spc="-10"/>
              <a:t>Method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5963" y="2388151"/>
            <a:ext cx="2635250" cy="2052955"/>
            <a:chOff x="345963" y="2388151"/>
            <a:chExt cx="2635250" cy="2052955"/>
          </a:xfrm>
        </p:grpSpPr>
        <p:sp>
          <p:nvSpPr>
            <p:cNvPr id="5" name="object 5"/>
            <p:cNvSpPr/>
            <p:nvPr/>
          </p:nvSpPr>
          <p:spPr>
            <a:xfrm>
              <a:off x="351202" y="2393389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5" h="2042795">
                  <a:moveTo>
                    <a:pt x="2283757" y="0"/>
                  </a:moveTo>
                  <a:lnTo>
                    <a:pt x="340401" y="0"/>
                  </a:lnTo>
                  <a:lnTo>
                    <a:pt x="294211" y="3107"/>
                  </a:lnTo>
                  <a:lnTo>
                    <a:pt x="249909" y="12159"/>
                  </a:lnTo>
                  <a:lnTo>
                    <a:pt x="207902" y="26750"/>
                  </a:lnTo>
                  <a:lnTo>
                    <a:pt x="168594" y="46474"/>
                  </a:lnTo>
                  <a:lnTo>
                    <a:pt x="132392" y="70927"/>
                  </a:lnTo>
                  <a:lnTo>
                    <a:pt x="99701" y="99701"/>
                  </a:lnTo>
                  <a:lnTo>
                    <a:pt x="70926" y="132392"/>
                  </a:lnTo>
                  <a:lnTo>
                    <a:pt x="46474" y="168594"/>
                  </a:lnTo>
                  <a:lnTo>
                    <a:pt x="26750" y="207902"/>
                  </a:lnTo>
                  <a:lnTo>
                    <a:pt x="12159" y="249909"/>
                  </a:lnTo>
                  <a:lnTo>
                    <a:pt x="3107" y="294211"/>
                  </a:lnTo>
                  <a:lnTo>
                    <a:pt x="0" y="340401"/>
                  </a:lnTo>
                  <a:lnTo>
                    <a:pt x="0" y="1701968"/>
                  </a:lnTo>
                  <a:lnTo>
                    <a:pt x="3107" y="1748159"/>
                  </a:lnTo>
                  <a:lnTo>
                    <a:pt x="12159" y="1792460"/>
                  </a:lnTo>
                  <a:lnTo>
                    <a:pt x="26750" y="1834468"/>
                  </a:lnTo>
                  <a:lnTo>
                    <a:pt x="46474" y="1873775"/>
                  </a:lnTo>
                  <a:lnTo>
                    <a:pt x="70926" y="1909977"/>
                  </a:lnTo>
                  <a:lnTo>
                    <a:pt x="99701" y="1942668"/>
                  </a:lnTo>
                  <a:lnTo>
                    <a:pt x="132392" y="1971442"/>
                  </a:lnTo>
                  <a:lnTo>
                    <a:pt x="168594" y="1995894"/>
                  </a:lnTo>
                  <a:lnTo>
                    <a:pt x="207902" y="2015619"/>
                  </a:lnTo>
                  <a:lnTo>
                    <a:pt x="249909" y="2030210"/>
                  </a:lnTo>
                  <a:lnTo>
                    <a:pt x="294211" y="2039262"/>
                  </a:lnTo>
                  <a:lnTo>
                    <a:pt x="340401" y="2042369"/>
                  </a:lnTo>
                  <a:lnTo>
                    <a:pt x="2283757" y="2042369"/>
                  </a:lnTo>
                  <a:lnTo>
                    <a:pt x="2329948" y="2039262"/>
                  </a:lnTo>
                  <a:lnTo>
                    <a:pt x="2374250" y="2030210"/>
                  </a:lnTo>
                  <a:lnTo>
                    <a:pt x="2416257" y="2015619"/>
                  </a:lnTo>
                  <a:lnTo>
                    <a:pt x="2455565" y="1995894"/>
                  </a:lnTo>
                  <a:lnTo>
                    <a:pt x="2491767" y="1971442"/>
                  </a:lnTo>
                  <a:lnTo>
                    <a:pt x="2524458" y="1942668"/>
                  </a:lnTo>
                  <a:lnTo>
                    <a:pt x="2553233" y="1909977"/>
                  </a:lnTo>
                  <a:lnTo>
                    <a:pt x="2577685" y="1873775"/>
                  </a:lnTo>
                  <a:lnTo>
                    <a:pt x="2597409" y="1834468"/>
                  </a:lnTo>
                  <a:lnTo>
                    <a:pt x="2612000" y="1792460"/>
                  </a:lnTo>
                  <a:lnTo>
                    <a:pt x="2621052" y="1748159"/>
                  </a:lnTo>
                  <a:lnTo>
                    <a:pt x="2624159" y="1701968"/>
                  </a:lnTo>
                  <a:lnTo>
                    <a:pt x="2624159" y="340401"/>
                  </a:lnTo>
                  <a:lnTo>
                    <a:pt x="2619919" y="286829"/>
                  </a:lnTo>
                  <a:lnTo>
                    <a:pt x="2607450" y="235059"/>
                  </a:lnTo>
                  <a:lnTo>
                    <a:pt x="2587131" y="186005"/>
                  </a:lnTo>
                  <a:lnTo>
                    <a:pt x="2559341" y="140581"/>
                  </a:lnTo>
                  <a:lnTo>
                    <a:pt x="2524458" y="99701"/>
                  </a:lnTo>
                  <a:lnTo>
                    <a:pt x="2483578" y="64818"/>
                  </a:lnTo>
                  <a:lnTo>
                    <a:pt x="2438154" y="37028"/>
                  </a:lnTo>
                  <a:lnTo>
                    <a:pt x="2389100" y="16709"/>
                  </a:lnTo>
                  <a:lnTo>
                    <a:pt x="2337330" y="4240"/>
                  </a:lnTo>
                  <a:lnTo>
                    <a:pt x="2283757" y="0"/>
                  </a:lnTo>
                  <a:close/>
                </a:path>
              </a:pathLst>
            </a:custGeom>
            <a:solidFill>
              <a:srgbClr val="FCE5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51202" y="2393389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5" h="2042795">
                  <a:moveTo>
                    <a:pt x="0" y="340401"/>
                  </a:moveTo>
                  <a:lnTo>
                    <a:pt x="3107" y="294211"/>
                  </a:lnTo>
                  <a:lnTo>
                    <a:pt x="12159" y="249909"/>
                  </a:lnTo>
                  <a:lnTo>
                    <a:pt x="26750" y="207902"/>
                  </a:lnTo>
                  <a:lnTo>
                    <a:pt x="46474" y="168594"/>
                  </a:lnTo>
                  <a:lnTo>
                    <a:pt x="70926" y="132392"/>
                  </a:lnTo>
                  <a:lnTo>
                    <a:pt x="99701" y="99701"/>
                  </a:lnTo>
                  <a:lnTo>
                    <a:pt x="132392" y="70926"/>
                  </a:lnTo>
                  <a:lnTo>
                    <a:pt x="168594" y="46474"/>
                  </a:lnTo>
                  <a:lnTo>
                    <a:pt x="207902" y="26750"/>
                  </a:lnTo>
                  <a:lnTo>
                    <a:pt x="249909" y="12159"/>
                  </a:lnTo>
                  <a:lnTo>
                    <a:pt x="294211" y="3107"/>
                  </a:lnTo>
                  <a:lnTo>
                    <a:pt x="340401" y="0"/>
                  </a:lnTo>
                  <a:lnTo>
                    <a:pt x="2283757" y="0"/>
                  </a:lnTo>
                  <a:lnTo>
                    <a:pt x="2337329" y="4240"/>
                  </a:lnTo>
                  <a:lnTo>
                    <a:pt x="2389099" y="16709"/>
                  </a:lnTo>
                  <a:lnTo>
                    <a:pt x="2438154" y="37028"/>
                  </a:lnTo>
                  <a:lnTo>
                    <a:pt x="2483578" y="64818"/>
                  </a:lnTo>
                  <a:lnTo>
                    <a:pt x="2524458" y="99701"/>
                  </a:lnTo>
                  <a:lnTo>
                    <a:pt x="2559341" y="140580"/>
                  </a:lnTo>
                  <a:lnTo>
                    <a:pt x="2587131" y="186005"/>
                  </a:lnTo>
                  <a:lnTo>
                    <a:pt x="2607450" y="235059"/>
                  </a:lnTo>
                  <a:lnTo>
                    <a:pt x="2619919" y="286829"/>
                  </a:lnTo>
                  <a:lnTo>
                    <a:pt x="2624159" y="340401"/>
                  </a:lnTo>
                  <a:lnTo>
                    <a:pt x="2624159" y="1701969"/>
                  </a:lnTo>
                  <a:lnTo>
                    <a:pt x="2621052" y="1748159"/>
                  </a:lnTo>
                  <a:lnTo>
                    <a:pt x="2612000" y="1792461"/>
                  </a:lnTo>
                  <a:lnTo>
                    <a:pt x="2597409" y="1834468"/>
                  </a:lnTo>
                  <a:lnTo>
                    <a:pt x="2577685" y="1873776"/>
                  </a:lnTo>
                  <a:lnTo>
                    <a:pt x="2553232" y="1909977"/>
                  </a:lnTo>
                  <a:lnTo>
                    <a:pt x="2524458" y="1942668"/>
                  </a:lnTo>
                  <a:lnTo>
                    <a:pt x="2491767" y="1971443"/>
                  </a:lnTo>
                  <a:lnTo>
                    <a:pt x="2455565" y="1995895"/>
                  </a:lnTo>
                  <a:lnTo>
                    <a:pt x="2416257" y="2015619"/>
                  </a:lnTo>
                  <a:lnTo>
                    <a:pt x="2374250" y="2030210"/>
                  </a:lnTo>
                  <a:lnTo>
                    <a:pt x="2329948" y="2039262"/>
                  </a:lnTo>
                  <a:lnTo>
                    <a:pt x="2283757" y="2042369"/>
                  </a:lnTo>
                  <a:lnTo>
                    <a:pt x="340401" y="2042369"/>
                  </a:lnTo>
                  <a:lnTo>
                    <a:pt x="294211" y="2039262"/>
                  </a:lnTo>
                  <a:lnTo>
                    <a:pt x="249909" y="2030210"/>
                  </a:lnTo>
                  <a:lnTo>
                    <a:pt x="207902" y="2015619"/>
                  </a:lnTo>
                  <a:lnTo>
                    <a:pt x="168594" y="1995895"/>
                  </a:lnTo>
                  <a:lnTo>
                    <a:pt x="132392" y="1971443"/>
                  </a:lnTo>
                  <a:lnTo>
                    <a:pt x="99701" y="1942668"/>
                  </a:lnTo>
                  <a:lnTo>
                    <a:pt x="70926" y="1909977"/>
                  </a:lnTo>
                  <a:lnTo>
                    <a:pt x="46474" y="1873776"/>
                  </a:lnTo>
                  <a:lnTo>
                    <a:pt x="26750" y="1834468"/>
                  </a:lnTo>
                  <a:lnTo>
                    <a:pt x="12159" y="1792461"/>
                  </a:lnTo>
                  <a:lnTo>
                    <a:pt x="3107" y="1748159"/>
                  </a:lnTo>
                  <a:lnTo>
                    <a:pt x="0" y="1701969"/>
                  </a:lnTo>
                  <a:lnTo>
                    <a:pt x="0" y="340401"/>
                  </a:lnTo>
                  <a:close/>
                </a:path>
              </a:pathLst>
            </a:custGeom>
            <a:ln w="10477">
              <a:solidFill>
                <a:srgbClr val="FCE5C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89620" y="2933041"/>
            <a:ext cx="2148205" cy="9518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835"/>
              </a:lnSpc>
              <a:spcBef>
                <a:spcPts val="90"/>
              </a:spcBef>
            </a:pPr>
            <a:r>
              <a:rPr dirty="0" sz="1550" b="1">
                <a:latin typeface="Arial"/>
                <a:cs typeface="Arial"/>
              </a:rPr>
              <a:t>Stage</a:t>
            </a:r>
            <a:r>
              <a:rPr dirty="0" sz="1550" spc="-60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algn="ctr" marL="12700" marR="5080">
              <a:lnSpc>
                <a:spcPts val="1820"/>
              </a:lnSpc>
              <a:spcBef>
                <a:spcPts val="70"/>
              </a:spcBef>
            </a:pPr>
            <a:r>
              <a:rPr dirty="0" sz="1550" spc="-10">
                <a:latin typeface="Arial"/>
                <a:cs typeface="Arial"/>
              </a:rPr>
              <a:t>Transformer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Encoder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for </a:t>
            </a:r>
            <a:r>
              <a:rPr dirty="0" sz="1550">
                <a:latin typeface="Arial"/>
                <a:cs typeface="Arial"/>
              </a:rPr>
              <a:t>PK/PD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Model Identification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42532" y="2388151"/>
            <a:ext cx="2635250" cy="2052955"/>
            <a:chOff x="3442532" y="2388151"/>
            <a:chExt cx="2635250" cy="2052955"/>
          </a:xfrm>
        </p:grpSpPr>
        <p:sp>
          <p:nvSpPr>
            <p:cNvPr id="9" name="object 9"/>
            <p:cNvSpPr/>
            <p:nvPr/>
          </p:nvSpPr>
          <p:spPr>
            <a:xfrm>
              <a:off x="3447771" y="2393389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4" h="2042795">
                  <a:moveTo>
                    <a:pt x="2283757" y="0"/>
                  </a:moveTo>
                  <a:lnTo>
                    <a:pt x="340401" y="0"/>
                  </a:lnTo>
                  <a:lnTo>
                    <a:pt x="294211" y="3107"/>
                  </a:lnTo>
                  <a:lnTo>
                    <a:pt x="249909" y="12159"/>
                  </a:lnTo>
                  <a:lnTo>
                    <a:pt x="207901" y="26750"/>
                  </a:lnTo>
                  <a:lnTo>
                    <a:pt x="168594" y="46474"/>
                  </a:lnTo>
                  <a:lnTo>
                    <a:pt x="132392" y="70927"/>
                  </a:lnTo>
                  <a:lnTo>
                    <a:pt x="99701" y="99701"/>
                  </a:lnTo>
                  <a:lnTo>
                    <a:pt x="70926" y="132392"/>
                  </a:lnTo>
                  <a:lnTo>
                    <a:pt x="46474" y="168594"/>
                  </a:lnTo>
                  <a:lnTo>
                    <a:pt x="26750" y="207902"/>
                  </a:lnTo>
                  <a:lnTo>
                    <a:pt x="12159" y="249909"/>
                  </a:lnTo>
                  <a:lnTo>
                    <a:pt x="3107" y="294211"/>
                  </a:lnTo>
                  <a:lnTo>
                    <a:pt x="0" y="340401"/>
                  </a:lnTo>
                  <a:lnTo>
                    <a:pt x="0" y="1701968"/>
                  </a:lnTo>
                  <a:lnTo>
                    <a:pt x="3107" y="1748159"/>
                  </a:lnTo>
                  <a:lnTo>
                    <a:pt x="12159" y="1792460"/>
                  </a:lnTo>
                  <a:lnTo>
                    <a:pt x="26750" y="1834468"/>
                  </a:lnTo>
                  <a:lnTo>
                    <a:pt x="46474" y="1873775"/>
                  </a:lnTo>
                  <a:lnTo>
                    <a:pt x="70926" y="1909977"/>
                  </a:lnTo>
                  <a:lnTo>
                    <a:pt x="99701" y="1942668"/>
                  </a:lnTo>
                  <a:lnTo>
                    <a:pt x="132392" y="1971442"/>
                  </a:lnTo>
                  <a:lnTo>
                    <a:pt x="168594" y="1995894"/>
                  </a:lnTo>
                  <a:lnTo>
                    <a:pt x="207901" y="2015619"/>
                  </a:lnTo>
                  <a:lnTo>
                    <a:pt x="249909" y="2030210"/>
                  </a:lnTo>
                  <a:lnTo>
                    <a:pt x="294211" y="2039262"/>
                  </a:lnTo>
                  <a:lnTo>
                    <a:pt x="340401" y="2042369"/>
                  </a:lnTo>
                  <a:lnTo>
                    <a:pt x="2283757" y="2042369"/>
                  </a:lnTo>
                  <a:lnTo>
                    <a:pt x="2329947" y="2039262"/>
                  </a:lnTo>
                  <a:lnTo>
                    <a:pt x="2374249" y="2030210"/>
                  </a:lnTo>
                  <a:lnTo>
                    <a:pt x="2416257" y="2015619"/>
                  </a:lnTo>
                  <a:lnTo>
                    <a:pt x="2455564" y="1995894"/>
                  </a:lnTo>
                  <a:lnTo>
                    <a:pt x="2491766" y="1971442"/>
                  </a:lnTo>
                  <a:lnTo>
                    <a:pt x="2524457" y="1942668"/>
                  </a:lnTo>
                  <a:lnTo>
                    <a:pt x="2553232" y="1909977"/>
                  </a:lnTo>
                  <a:lnTo>
                    <a:pt x="2577684" y="1873775"/>
                  </a:lnTo>
                  <a:lnTo>
                    <a:pt x="2597408" y="1834468"/>
                  </a:lnTo>
                  <a:lnTo>
                    <a:pt x="2611999" y="1792460"/>
                  </a:lnTo>
                  <a:lnTo>
                    <a:pt x="2621051" y="1748159"/>
                  </a:lnTo>
                  <a:lnTo>
                    <a:pt x="2624159" y="1701968"/>
                  </a:lnTo>
                  <a:lnTo>
                    <a:pt x="2624159" y="340401"/>
                  </a:lnTo>
                  <a:lnTo>
                    <a:pt x="2619918" y="286829"/>
                  </a:lnTo>
                  <a:lnTo>
                    <a:pt x="2607449" y="235059"/>
                  </a:lnTo>
                  <a:lnTo>
                    <a:pt x="2587130" y="186005"/>
                  </a:lnTo>
                  <a:lnTo>
                    <a:pt x="2559340" y="140581"/>
                  </a:lnTo>
                  <a:lnTo>
                    <a:pt x="2524458" y="99701"/>
                  </a:lnTo>
                  <a:lnTo>
                    <a:pt x="2483578" y="64818"/>
                  </a:lnTo>
                  <a:lnTo>
                    <a:pt x="2438153" y="37028"/>
                  </a:lnTo>
                  <a:lnTo>
                    <a:pt x="2389099" y="16709"/>
                  </a:lnTo>
                  <a:lnTo>
                    <a:pt x="2337329" y="4240"/>
                  </a:lnTo>
                  <a:lnTo>
                    <a:pt x="2283757" y="0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47770" y="2393389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4" h="2042795">
                  <a:moveTo>
                    <a:pt x="0" y="340401"/>
                  </a:moveTo>
                  <a:lnTo>
                    <a:pt x="3107" y="294211"/>
                  </a:lnTo>
                  <a:lnTo>
                    <a:pt x="12159" y="249909"/>
                  </a:lnTo>
                  <a:lnTo>
                    <a:pt x="26750" y="207902"/>
                  </a:lnTo>
                  <a:lnTo>
                    <a:pt x="46474" y="168594"/>
                  </a:lnTo>
                  <a:lnTo>
                    <a:pt x="70926" y="132392"/>
                  </a:lnTo>
                  <a:lnTo>
                    <a:pt x="99701" y="99701"/>
                  </a:lnTo>
                  <a:lnTo>
                    <a:pt x="132392" y="70926"/>
                  </a:lnTo>
                  <a:lnTo>
                    <a:pt x="168594" y="46474"/>
                  </a:lnTo>
                  <a:lnTo>
                    <a:pt x="207902" y="26750"/>
                  </a:lnTo>
                  <a:lnTo>
                    <a:pt x="249910" y="12159"/>
                  </a:lnTo>
                  <a:lnTo>
                    <a:pt x="294212" y="3107"/>
                  </a:lnTo>
                  <a:lnTo>
                    <a:pt x="340403" y="0"/>
                  </a:lnTo>
                  <a:lnTo>
                    <a:pt x="2283756" y="0"/>
                  </a:lnTo>
                  <a:lnTo>
                    <a:pt x="2337329" y="4240"/>
                  </a:lnTo>
                  <a:lnTo>
                    <a:pt x="2389100" y="16709"/>
                  </a:lnTo>
                  <a:lnTo>
                    <a:pt x="2438154" y="37028"/>
                  </a:lnTo>
                  <a:lnTo>
                    <a:pt x="2483578" y="64818"/>
                  </a:lnTo>
                  <a:lnTo>
                    <a:pt x="2524458" y="99701"/>
                  </a:lnTo>
                  <a:lnTo>
                    <a:pt x="2559341" y="140580"/>
                  </a:lnTo>
                  <a:lnTo>
                    <a:pt x="2587131" y="186005"/>
                  </a:lnTo>
                  <a:lnTo>
                    <a:pt x="2607450" y="235059"/>
                  </a:lnTo>
                  <a:lnTo>
                    <a:pt x="2619919" y="286829"/>
                  </a:lnTo>
                  <a:lnTo>
                    <a:pt x="2624159" y="340401"/>
                  </a:lnTo>
                  <a:lnTo>
                    <a:pt x="2624159" y="1701969"/>
                  </a:lnTo>
                  <a:lnTo>
                    <a:pt x="2621052" y="1748159"/>
                  </a:lnTo>
                  <a:lnTo>
                    <a:pt x="2612000" y="1792461"/>
                  </a:lnTo>
                  <a:lnTo>
                    <a:pt x="2597409" y="1834468"/>
                  </a:lnTo>
                  <a:lnTo>
                    <a:pt x="2577685" y="1873776"/>
                  </a:lnTo>
                  <a:lnTo>
                    <a:pt x="2553232" y="1909977"/>
                  </a:lnTo>
                  <a:lnTo>
                    <a:pt x="2524458" y="1942668"/>
                  </a:lnTo>
                  <a:lnTo>
                    <a:pt x="2491767" y="1971443"/>
                  </a:lnTo>
                  <a:lnTo>
                    <a:pt x="2455565" y="1995895"/>
                  </a:lnTo>
                  <a:lnTo>
                    <a:pt x="2416257" y="2015619"/>
                  </a:lnTo>
                  <a:lnTo>
                    <a:pt x="2374249" y="2030210"/>
                  </a:lnTo>
                  <a:lnTo>
                    <a:pt x="2329947" y="2039262"/>
                  </a:lnTo>
                  <a:lnTo>
                    <a:pt x="2283756" y="2042369"/>
                  </a:lnTo>
                  <a:lnTo>
                    <a:pt x="340403" y="2042369"/>
                  </a:lnTo>
                  <a:lnTo>
                    <a:pt x="294212" y="2039262"/>
                  </a:lnTo>
                  <a:lnTo>
                    <a:pt x="249910" y="2030210"/>
                  </a:lnTo>
                  <a:lnTo>
                    <a:pt x="207902" y="2015619"/>
                  </a:lnTo>
                  <a:lnTo>
                    <a:pt x="168594" y="1995895"/>
                  </a:lnTo>
                  <a:lnTo>
                    <a:pt x="132392" y="1971443"/>
                  </a:lnTo>
                  <a:lnTo>
                    <a:pt x="99701" y="1942668"/>
                  </a:lnTo>
                  <a:lnTo>
                    <a:pt x="70926" y="1909977"/>
                  </a:lnTo>
                  <a:lnTo>
                    <a:pt x="46474" y="1873776"/>
                  </a:lnTo>
                  <a:lnTo>
                    <a:pt x="26750" y="1834468"/>
                  </a:lnTo>
                  <a:lnTo>
                    <a:pt x="12159" y="1792461"/>
                  </a:lnTo>
                  <a:lnTo>
                    <a:pt x="3107" y="1748159"/>
                  </a:lnTo>
                  <a:lnTo>
                    <a:pt x="0" y="1701969"/>
                  </a:lnTo>
                  <a:lnTo>
                    <a:pt x="0" y="340401"/>
                  </a:lnTo>
                  <a:close/>
                </a:path>
              </a:pathLst>
            </a:custGeom>
            <a:ln w="10477">
              <a:solidFill>
                <a:srgbClr val="D9EA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671584" y="3048293"/>
            <a:ext cx="2177415" cy="7213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835"/>
              </a:lnSpc>
              <a:spcBef>
                <a:spcPts val="90"/>
              </a:spcBef>
            </a:pPr>
            <a:r>
              <a:rPr dirty="0" sz="1550" b="1">
                <a:latin typeface="Arial"/>
                <a:cs typeface="Arial"/>
              </a:rPr>
              <a:t>Stage</a:t>
            </a:r>
            <a:r>
              <a:rPr dirty="0" sz="1550" spc="-60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  <a:p>
            <a:pPr algn="ctr" marL="12065" marR="5080" indent="-635">
              <a:lnSpc>
                <a:spcPts val="1810"/>
              </a:lnSpc>
              <a:spcBef>
                <a:spcPts val="80"/>
              </a:spcBef>
            </a:pPr>
            <a:r>
              <a:rPr dirty="0" sz="1550">
                <a:latin typeface="Arial"/>
                <a:cs typeface="Arial"/>
              </a:rPr>
              <a:t>Quantum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Inspired Hamiltonian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Monte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Carlo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39100" y="2426224"/>
            <a:ext cx="2635250" cy="2052955"/>
            <a:chOff x="6539100" y="2426224"/>
            <a:chExt cx="2635250" cy="2052955"/>
          </a:xfrm>
        </p:grpSpPr>
        <p:sp>
          <p:nvSpPr>
            <p:cNvPr id="13" name="object 13"/>
            <p:cNvSpPr/>
            <p:nvPr/>
          </p:nvSpPr>
          <p:spPr>
            <a:xfrm>
              <a:off x="6544340" y="2431463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4" h="2042795">
                  <a:moveTo>
                    <a:pt x="2283758" y="0"/>
                  </a:moveTo>
                  <a:lnTo>
                    <a:pt x="340401" y="0"/>
                  </a:lnTo>
                  <a:lnTo>
                    <a:pt x="294211" y="3107"/>
                  </a:lnTo>
                  <a:lnTo>
                    <a:pt x="249909" y="12159"/>
                  </a:lnTo>
                  <a:lnTo>
                    <a:pt x="207901" y="26750"/>
                  </a:lnTo>
                  <a:lnTo>
                    <a:pt x="168594" y="46474"/>
                  </a:lnTo>
                  <a:lnTo>
                    <a:pt x="132392" y="70927"/>
                  </a:lnTo>
                  <a:lnTo>
                    <a:pt x="99701" y="99701"/>
                  </a:lnTo>
                  <a:lnTo>
                    <a:pt x="70926" y="132392"/>
                  </a:lnTo>
                  <a:lnTo>
                    <a:pt x="46474" y="168594"/>
                  </a:lnTo>
                  <a:lnTo>
                    <a:pt x="26750" y="207902"/>
                  </a:lnTo>
                  <a:lnTo>
                    <a:pt x="12159" y="249909"/>
                  </a:lnTo>
                  <a:lnTo>
                    <a:pt x="3107" y="294211"/>
                  </a:lnTo>
                  <a:lnTo>
                    <a:pt x="0" y="340401"/>
                  </a:lnTo>
                  <a:lnTo>
                    <a:pt x="0" y="1701968"/>
                  </a:lnTo>
                  <a:lnTo>
                    <a:pt x="3107" y="1748159"/>
                  </a:lnTo>
                  <a:lnTo>
                    <a:pt x="12159" y="1792460"/>
                  </a:lnTo>
                  <a:lnTo>
                    <a:pt x="26750" y="1834468"/>
                  </a:lnTo>
                  <a:lnTo>
                    <a:pt x="46474" y="1873775"/>
                  </a:lnTo>
                  <a:lnTo>
                    <a:pt x="70926" y="1909978"/>
                  </a:lnTo>
                  <a:lnTo>
                    <a:pt x="99701" y="1942669"/>
                  </a:lnTo>
                  <a:lnTo>
                    <a:pt x="132392" y="1971443"/>
                  </a:lnTo>
                  <a:lnTo>
                    <a:pt x="168594" y="1995895"/>
                  </a:lnTo>
                  <a:lnTo>
                    <a:pt x="207901" y="2015620"/>
                  </a:lnTo>
                  <a:lnTo>
                    <a:pt x="249909" y="2030211"/>
                  </a:lnTo>
                  <a:lnTo>
                    <a:pt x="294211" y="2039263"/>
                  </a:lnTo>
                  <a:lnTo>
                    <a:pt x="340401" y="2042370"/>
                  </a:lnTo>
                  <a:lnTo>
                    <a:pt x="2283758" y="2042370"/>
                  </a:lnTo>
                  <a:lnTo>
                    <a:pt x="2329948" y="2039263"/>
                  </a:lnTo>
                  <a:lnTo>
                    <a:pt x="2374250" y="2030211"/>
                  </a:lnTo>
                  <a:lnTo>
                    <a:pt x="2416257" y="2015620"/>
                  </a:lnTo>
                  <a:lnTo>
                    <a:pt x="2455565" y="1995895"/>
                  </a:lnTo>
                  <a:lnTo>
                    <a:pt x="2491767" y="1971443"/>
                  </a:lnTo>
                  <a:lnTo>
                    <a:pt x="2524458" y="1942669"/>
                  </a:lnTo>
                  <a:lnTo>
                    <a:pt x="2553233" y="1909978"/>
                  </a:lnTo>
                  <a:lnTo>
                    <a:pt x="2577685" y="1873775"/>
                  </a:lnTo>
                  <a:lnTo>
                    <a:pt x="2597409" y="1834468"/>
                  </a:lnTo>
                  <a:lnTo>
                    <a:pt x="2612000" y="1792460"/>
                  </a:lnTo>
                  <a:lnTo>
                    <a:pt x="2621052" y="1748159"/>
                  </a:lnTo>
                  <a:lnTo>
                    <a:pt x="2624160" y="1701968"/>
                  </a:lnTo>
                  <a:lnTo>
                    <a:pt x="2624160" y="340401"/>
                  </a:lnTo>
                  <a:lnTo>
                    <a:pt x="2619919" y="286830"/>
                  </a:lnTo>
                  <a:lnTo>
                    <a:pt x="2607450" y="235059"/>
                  </a:lnTo>
                  <a:lnTo>
                    <a:pt x="2587131" y="186005"/>
                  </a:lnTo>
                  <a:lnTo>
                    <a:pt x="2559341" y="140581"/>
                  </a:lnTo>
                  <a:lnTo>
                    <a:pt x="2524459" y="99701"/>
                  </a:lnTo>
                  <a:lnTo>
                    <a:pt x="2483579" y="64819"/>
                  </a:lnTo>
                  <a:lnTo>
                    <a:pt x="2438154" y="37029"/>
                  </a:lnTo>
                  <a:lnTo>
                    <a:pt x="2389100" y="16709"/>
                  </a:lnTo>
                  <a:lnTo>
                    <a:pt x="2337330" y="4240"/>
                  </a:lnTo>
                  <a:lnTo>
                    <a:pt x="2283758" y="0"/>
                  </a:lnTo>
                  <a:close/>
                </a:path>
              </a:pathLst>
            </a:custGeom>
            <a:solidFill>
              <a:srgbClr val="CF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44339" y="2431463"/>
              <a:ext cx="2624455" cy="2042795"/>
            </a:xfrm>
            <a:custGeom>
              <a:avLst/>
              <a:gdLst/>
              <a:ahLst/>
              <a:cxnLst/>
              <a:rect l="l" t="t" r="r" b="b"/>
              <a:pathLst>
                <a:path w="2624454" h="2042795">
                  <a:moveTo>
                    <a:pt x="0" y="340401"/>
                  </a:moveTo>
                  <a:lnTo>
                    <a:pt x="3107" y="294211"/>
                  </a:lnTo>
                  <a:lnTo>
                    <a:pt x="12159" y="249909"/>
                  </a:lnTo>
                  <a:lnTo>
                    <a:pt x="26750" y="207902"/>
                  </a:lnTo>
                  <a:lnTo>
                    <a:pt x="46474" y="168594"/>
                  </a:lnTo>
                  <a:lnTo>
                    <a:pt x="70926" y="132392"/>
                  </a:lnTo>
                  <a:lnTo>
                    <a:pt x="99700" y="99701"/>
                  </a:lnTo>
                  <a:lnTo>
                    <a:pt x="132391" y="70926"/>
                  </a:lnTo>
                  <a:lnTo>
                    <a:pt x="168593" y="46474"/>
                  </a:lnTo>
                  <a:lnTo>
                    <a:pt x="207901" y="26750"/>
                  </a:lnTo>
                  <a:lnTo>
                    <a:pt x="249908" y="12159"/>
                  </a:lnTo>
                  <a:lnTo>
                    <a:pt x="294210" y="3107"/>
                  </a:lnTo>
                  <a:lnTo>
                    <a:pt x="340400" y="0"/>
                  </a:lnTo>
                  <a:lnTo>
                    <a:pt x="2283759" y="0"/>
                  </a:lnTo>
                  <a:lnTo>
                    <a:pt x="2337330" y="4240"/>
                  </a:lnTo>
                  <a:lnTo>
                    <a:pt x="2389100" y="16709"/>
                  </a:lnTo>
                  <a:lnTo>
                    <a:pt x="2438154" y="37028"/>
                  </a:lnTo>
                  <a:lnTo>
                    <a:pt x="2483578" y="64818"/>
                  </a:lnTo>
                  <a:lnTo>
                    <a:pt x="2524458" y="99701"/>
                  </a:lnTo>
                  <a:lnTo>
                    <a:pt x="2559341" y="140580"/>
                  </a:lnTo>
                  <a:lnTo>
                    <a:pt x="2587131" y="186005"/>
                  </a:lnTo>
                  <a:lnTo>
                    <a:pt x="2607450" y="235059"/>
                  </a:lnTo>
                  <a:lnTo>
                    <a:pt x="2619919" y="286829"/>
                  </a:lnTo>
                  <a:lnTo>
                    <a:pt x="2624159" y="340401"/>
                  </a:lnTo>
                  <a:lnTo>
                    <a:pt x="2624159" y="1701966"/>
                  </a:lnTo>
                  <a:lnTo>
                    <a:pt x="2621052" y="1748157"/>
                  </a:lnTo>
                  <a:lnTo>
                    <a:pt x="2612000" y="1792459"/>
                  </a:lnTo>
                  <a:lnTo>
                    <a:pt x="2597409" y="1834467"/>
                  </a:lnTo>
                  <a:lnTo>
                    <a:pt x="2577685" y="1873775"/>
                  </a:lnTo>
                  <a:lnTo>
                    <a:pt x="2553233" y="1909977"/>
                  </a:lnTo>
                  <a:lnTo>
                    <a:pt x="2524458" y="1942668"/>
                  </a:lnTo>
                  <a:lnTo>
                    <a:pt x="2491767" y="1971442"/>
                  </a:lnTo>
                  <a:lnTo>
                    <a:pt x="2455565" y="1995895"/>
                  </a:lnTo>
                  <a:lnTo>
                    <a:pt x="2416258" y="2015619"/>
                  </a:lnTo>
                  <a:lnTo>
                    <a:pt x="2374251" y="2030210"/>
                  </a:lnTo>
                  <a:lnTo>
                    <a:pt x="2329949" y="2039262"/>
                  </a:lnTo>
                  <a:lnTo>
                    <a:pt x="2283759" y="2042369"/>
                  </a:lnTo>
                  <a:lnTo>
                    <a:pt x="340400" y="2042369"/>
                  </a:lnTo>
                  <a:lnTo>
                    <a:pt x="294210" y="2039262"/>
                  </a:lnTo>
                  <a:lnTo>
                    <a:pt x="249908" y="2030210"/>
                  </a:lnTo>
                  <a:lnTo>
                    <a:pt x="207901" y="2015619"/>
                  </a:lnTo>
                  <a:lnTo>
                    <a:pt x="168593" y="1995895"/>
                  </a:lnTo>
                  <a:lnTo>
                    <a:pt x="132391" y="1971442"/>
                  </a:lnTo>
                  <a:lnTo>
                    <a:pt x="99700" y="1942668"/>
                  </a:lnTo>
                  <a:lnTo>
                    <a:pt x="70926" y="1909977"/>
                  </a:lnTo>
                  <a:lnTo>
                    <a:pt x="46474" y="1873775"/>
                  </a:lnTo>
                  <a:lnTo>
                    <a:pt x="26750" y="1834467"/>
                  </a:lnTo>
                  <a:lnTo>
                    <a:pt x="12159" y="1792459"/>
                  </a:lnTo>
                  <a:lnTo>
                    <a:pt x="3107" y="1748157"/>
                  </a:lnTo>
                  <a:lnTo>
                    <a:pt x="0" y="1701966"/>
                  </a:lnTo>
                  <a:lnTo>
                    <a:pt x="0" y="340401"/>
                  </a:lnTo>
                  <a:close/>
                </a:path>
              </a:pathLst>
            </a:custGeom>
            <a:ln w="10477">
              <a:solidFill>
                <a:srgbClr val="CFE2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778890" y="2971116"/>
            <a:ext cx="2155190" cy="9518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835"/>
              </a:lnSpc>
              <a:spcBef>
                <a:spcPts val="90"/>
              </a:spcBef>
            </a:pPr>
            <a:r>
              <a:rPr dirty="0" sz="1550" b="1">
                <a:latin typeface="Arial"/>
                <a:cs typeface="Arial"/>
              </a:rPr>
              <a:t>Stage</a:t>
            </a:r>
            <a:r>
              <a:rPr dirty="0" sz="1550" spc="-60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  <a:p>
            <a:pPr algn="ctr" marL="12700" marR="5080">
              <a:lnSpc>
                <a:spcPts val="1810"/>
              </a:lnSpc>
              <a:spcBef>
                <a:spcPts val="80"/>
              </a:spcBef>
            </a:pPr>
            <a:r>
              <a:rPr dirty="0" sz="1550">
                <a:latin typeface="Arial"/>
                <a:cs typeface="Arial"/>
              </a:rPr>
              <a:t>Quantum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Kernel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Method </a:t>
            </a:r>
            <a:r>
              <a:rPr dirty="0" sz="1550">
                <a:latin typeface="Arial"/>
                <a:cs typeface="Arial"/>
              </a:rPr>
              <a:t>for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Support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Vector Regression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81980" y="5049284"/>
            <a:ext cx="2573020" cy="1186180"/>
            <a:chOff x="3481980" y="5049284"/>
            <a:chExt cx="2573020" cy="1186180"/>
          </a:xfrm>
        </p:grpSpPr>
        <p:sp>
          <p:nvSpPr>
            <p:cNvPr id="17" name="object 17"/>
            <p:cNvSpPr/>
            <p:nvPr/>
          </p:nvSpPr>
          <p:spPr>
            <a:xfrm>
              <a:off x="3678886" y="5932877"/>
              <a:ext cx="274955" cy="238760"/>
            </a:xfrm>
            <a:custGeom>
              <a:avLst/>
              <a:gdLst/>
              <a:ahLst/>
              <a:cxnLst/>
              <a:rect l="l" t="t" r="r" b="b"/>
              <a:pathLst>
                <a:path w="274954" h="238760">
                  <a:moveTo>
                    <a:pt x="137280" y="0"/>
                  </a:moveTo>
                  <a:lnTo>
                    <a:pt x="83844" y="9374"/>
                  </a:lnTo>
                  <a:lnTo>
                    <a:pt x="40208" y="34941"/>
                  </a:lnTo>
                  <a:lnTo>
                    <a:pt x="10788" y="72860"/>
                  </a:lnTo>
                  <a:lnTo>
                    <a:pt x="0" y="119294"/>
                  </a:lnTo>
                  <a:lnTo>
                    <a:pt x="10788" y="165729"/>
                  </a:lnTo>
                  <a:lnTo>
                    <a:pt x="40208" y="203649"/>
                  </a:lnTo>
                  <a:lnTo>
                    <a:pt x="83844" y="229215"/>
                  </a:lnTo>
                  <a:lnTo>
                    <a:pt x="137280" y="238589"/>
                  </a:lnTo>
                  <a:lnTo>
                    <a:pt x="190716" y="229215"/>
                  </a:lnTo>
                  <a:lnTo>
                    <a:pt x="234351" y="203649"/>
                  </a:lnTo>
                  <a:lnTo>
                    <a:pt x="263771" y="165729"/>
                  </a:lnTo>
                  <a:lnTo>
                    <a:pt x="274560" y="119294"/>
                  </a:lnTo>
                  <a:lnTo>
                    <a:pt x="263771" y="72860"/>
                  </a:lnTo>
                  <a:lnTo>
                    <a:pt x="234351" y="34941"/>
                  </a:lnTo>
                  <a:lnTo>
                    <a:pt x="190716" y="9374"/>
                  </a:lnTo>
                  <a:lnTo>
                    <a:pt x="13728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78886" y="5932875"/>
              <a:ext cx="274955" cy="238760"/>
            </a:xfrm>
            <a:custGeom>
              <a:avLst/>
              <a:gdLst/>
              <a:ahLst/>
              <a:cxnLst/>
              <a:rect l="l" t="t" r="r" b="b"/>
              <a:pathLst>
                <a:path w="274954" h="238760">
                  <a:moveTo>
                    <a:pt x="0" y="119294"/>
                  </a:moveTo>
                  <a:lnTo>
                    <a:pt x="10788" y="72860"/>
                  </a:lnTo>
                  <a:lnTo>
                    <a:pt x="40208" y="34940"/>
                  </a:lnTo>
                  <a:lnTo>
                    <a:pt x="83844" y="9374"/>
                  </a:lnTo>
                  <a:lnTo>
                    <a:pt x="137279" y="0"/>
                  </a:lnTo>
                  <a:lnTo>
                    <a:pt x="190715" y="9374"/>
                  </a:lnTo>
                  <a:lnTo>
                    <a:pt x="234351" y="34940"/>
                  </a:lnTo>
                  <a:lnTo>
                    <a:pt x="263771" y="72860"/>
                  </a:lnTo>
                  <a:lnTo>
                    <a:pt x="274559" y="119294"/>
                  </a:lnTo>
                  <a:lnTo>
                    <a:pt x="263771" y="165731"/>
                  </a:lnTo>
                  <a:lnTo>
                    <a:pt x="234351" y="203650"/>
                  </a:lnTo>
                  <a:lnTo>
                    <a:pt x="190715" y="229215"/>
                  </a:lnTo>
                  <a:lnTo>
                    <a:pt x="137279" y="238589"/>
                  </a:lnTo>
                  <a:lnTo>
                    <a:pt x="83844" y="229215"/>
                  </a:lnTo>
                  <a:lnTo>
                    <a:pt x="40208" y="203650"/>
                  </a:lnTo>
                  <a:lnTo>
                    <a:pt x="10788" y="165731"/>
                  </a:lnTo>
                  <a:lnTo>
                    <a:pt x="0" y="119294"/>
                  </a:lnTo>
                  <a:close/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09360" y="5991562"/>
              <a:ext cx="274955" cy="238760"/>
            </a:xfrm>
            <a:custGeom>
              <a:avLst/>
              <a:gdLst/>
              <a:ahLst/>
              <a:cxnLst/>
              <a:rect l="l" t="t" r="r" b="b"/>
              <a:pathLst>
                <a:path w="274954" h="238760">
                  <a:moveTo>
                    <a:pt x="137280" y="0"/>
                  </a:moveTo>
                  <a:lnTo>
                    <a:pt x="83844" y="9374"/>
                  </a:lnTo>
                  <a:lnTo>
                    <a:pt x="40208" y="34940"/>
                  </a:lnTo>
                  <a:lnTo>
                    <a:pt x="10788" y="72859"/>
                  </a:lnTo>
                  <a:lnTo>
                    <a:pt x="0" y="119294"/>
                  </a:lnTo>
                  <a:lnTo>
                    <a:pt x="10788" y="165729"/>
                  </a:lnTo>
                  <a:lnTo>
                    <a:pt x="40208" y="203649"/>
                  </a:lnTo>
                  <a:lnTo>
                    <a:pt x="83844" y="229215"/>
                  </a:lnTo>
                  <a:lnTo>
                    <a:pt x="137280" y="238589"/>
                  </a:lnTo>
                  <a:lnTo>
                    <a:pt x="190716" y="229215"/>
                  </a:lnTo>
                  <a:lnTo>
                    <a:pt x="234351" y="203649"/>
                  </a:lnTo>
                  <a:lnTo>
                    <a:pt x="263771" y="165729"/>
                  </a:lnTo>
                  <a:lnTo>
                    <a:pt x="274560" y="119294"/>
                  </a:lnTo>
                  <a:lnTo>
                    <a:pt x="263771" y="72859"/>
                  </a:lnTo>
                  <a:lnTo>
                    <a:pt x="234351" y="34940"/>
                  </a:lnTo>
                  <a:lnTo>
                    <a:pt x="190716" y="9374"/>
                  </a:lnTo>
                  <a:lnTo>
                    <a:pt x="13728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09360" y="5991560"/>
              <a:ext cx="274955" cy="238760"/>
            </a:xfrm>
            <a:custGeom>
              <a:avLst/>
              <a:gdLst/>
              <a:ahLst/>
              <a:cxnLst/>
              <a:rect l="l" t="t" r="r" b="b"/>
              <a:pathLst>
                <a:path w="274954" h="238760">
                  <a:moveTo>
                    <a:pt x="0" y="119294"/>
                  </a:moveTo>
                  <a:lnTo>
                    <a:pt x="10788" y="72860"/>
                  </a:lnTo>
                  <a:lnTo>
                    <a:pt x="40208" y="34940"/>
                  </a:lnTo>
                  <a:lnTo>
                    <a:pt x="83844" y="9374"/>
                  </a:lnTo>
                  <a:lnTo>
                    <a:pt x="137279" y="0"/>
                  </a:lnTo>
                  <a:lnTo>
                    <a:pt x="190715" y="9374"/>
                  </a:lnTo>
                  <a:lnTo>
                    <a:pt x="234351" y="34940"/>
                  </a:lnTo>
                  <a:lnTo>
                    <a:pt x="263771" y="72860"/>
                  </a:lnTo>
                  <a:lnTo>
                    <a:pt x="274559" y="119294"/>
                  </a:lnTo>
                  <a:lnTo>
                    <a:pt x="263771" y="165731"/>
                  </a:lnTo>
                  <a:lnTo>
                    <a:pt x="234351" y="203650"/>
                  </a:lnTo>
                  <a:lnTo>
                    <a:pt x="190715" y="229215"/>
                  </a:lnTo>
                  <a:lnTo>
                    <a:pt x="137279" y="238589"/>
                  </a:lnTo>
                  <a:lnTo>
                    <a:pt x="83844" y="229215"/>
                  </a:lnTo>
                  <a:lnTo>
                    <a:pt x="40208" y="203650"/>
                  </a:lnTo>
                  <a:lnTo>
                    <a:pt x="10788" y="165731"/>
                  </a:lnTo>
                  <a:lnTo>
                    <a:pt x="0" y="119294"/>
                  </a:lnTo>
                  <a:close/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10136" y="6113000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0"/>
                  </a:moveTo>
                  <a:lnTo>
                    <a:pt x="951920" y="18730"/>
                  </a:lnTo>
                </a:path>
              </a:pathLst>
            </a:custGeom>
            <a:ln w="314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5321" y="6064108"/>
              <a:ext cx="175067" cy="1352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87219" y="5054523"/>
              <a:ext cx="2562225" cy="1170940"/>
            </a:xfrm>
            <a:custGeom>
              <a:avLst/>
              <a:gdLst/>
              <a:ahLst/>
              <a:cxnLst/>
              <a:rect l="l" t="t" r="r" b="b"/>
              <a:pathLst>
                <a:path w="2562225" h="1170939">
                  <a:moveTo>
                    <a:pt x="0" y="676087"/>
                  </a:moveTo>
                  <a:lnTo>
                    <a:pt x="25572" y="717109"/>
                  </a:lnTo>
                  <a:lnTo>
                    <a:pt x="55345" y="782051"/>
                  </a:lnTo>
                  <a:lnTo>
                    <a:pt x="72042" y="820450"/>
                  </a:lnTo>
                  <a:lnTo>
                    <a:pt x="90072" y="861179"/>
                  </a:lnTo>
                  <a:lnTo>
                    <a:pt x="109529" y="903021"/>
                  </a:lnTo>
                  <a:lnTo>
                    <a:pt x="130507" y="944759"/>
                  </a:lnTo>
                  <a:lnTo>
                    <a:pt x="153100" y="985176"/>
                  </a:lnTo>
                  <a:lnTo>
                    <a:pt x="177402" y="1023057"/>
                  </a:lnTo>
                  <a:lnTo>
                    <a:pt x="203508" y="1057182"/>
                  </a:lnTo>
                  <a:lnTo>
                    <a:pt x="231511" y="1086337"/>
                  </a:lnTo>
                  <a:lnTo>
                    <a:pt x="293587" y="1124867"/>
                  </a:lnTo>
                  <a:lnTo>
                    <a:pt x="327848" y="1131808"/>
                  </a:lnTo>
                  <a:lnTo>
                    <a:pt x="364383" y="1128911"/>
                  </a:lnTo>
                  <a:lnTo>
                    <a:pt x="403287" y="1114959"/>
                  </a:lnTo>
                  <a:lnTo>
                    <a:pt x="448436" y="1083803"/>
                  </a:lnTo>
                  <a:lnTo>
                    <a:pt x="498247" y="1034456"/>
                  </a:lnTo>
                  <a:lnTo>
                    <a:pt x="524722" y="1003835"/>
                  </a:lnTo>
                  <a:lnTo>
                    <a:pt x="552147" y="969714"/>
                  </a:lnTo>
                  <a:lnTo>
                    <a:pt x="580452" y="932445"/>
                  </a:lnTo>
                  <a:lnTo>
                    <a:pt x="609563" y="892376"/>
                  </a:lnTo>
                  <a:lnTo>
                    <a:pt x="639410" y="849857"/>
                  </a:lnTo>
                  <a:lnTo>
                    <a:pt x="669921" y="805238"/>
                  </a:lnTo>
                  <a:lnTo>
                    <a:pt x="701024" y="758868"/>
                  </a:lnTo>
                  <a:lnTo>
                    <a:pt x="732648" y="711098"/>
                  </a:lnTo>
                  <a:lnTo>
                    <a:pt x="764720" y="662276"/>
                  </a:lnTo>
                  <a:lnTo>
                    <a:pt x="797170" y="612753"/>
                  </a:lnTo>
                  <a:lnTo>
                    <a:pt x="829925" y="562878"/>
                  </a:lnTo>
                  <a:lnTo>
                    <a:pt x="862914" y="513001"/>
                  </a:lnTo>
                  <a:lnTo>
                    <a:pt x="896065" y="463471"/>
                  </a:lnTo>
                  <a:lnTo>
                    <a:pt x="929306" y="414638"/>
                  </a:lnTo>
                  <a:lnTo>
                    <a:pt x="962567" y="366853"/>
                  </a:lnTo>
                  <a:lnTo>
                    <a:pt x="995774" y="320463"/>
                  </a:lnTo>
                  <a:lnTo>
                    <a:pt x="1028857" y="275820"/>
                  </a:lnTo>
                  <a:lnTo>
                    <a:pt x="1061744" y="233273"/>
                  </a:lnTo>
                  <a:lnTo>
                    <a:pt x="1094363" y="193171"/>
                  </a:lnTo>
                  <a:lnTo>
                    <a:pt x="1126643" y="155865"/>
                  </a:lnTo>
                  <a:lnTo>
                    <a:pt x="1158511" y="121703"/>
                  </a:lnTo>
                  <a:lnTo>
                    <a:pt x="1189896" y="91036"/>
                  </a:lnTo>
                  <a:lnTo>
                    <a:pt x="1220727" y="64213"/>
                  </a:lnTo>
                  <a:lnTo>
                    <a:pt x="1280438" y="23498"/>
                  </a:lnTo>
                  <a:lnTo>
                    <a:pt x="1337071" y="2356"/>
                  </a:lnTo>
                  <a:lnTo>
                    <a:pt x="1364054" y="0"/>
                  </a:lnTo>
                  <a:lnTo>
                    <a:pt x="1391319" y="3681"/>
                  </a:lnTo>
                  <a:lnTo>
                    <a:pt x="1445272" y="28534"/>
                  </a:lnTo>
                  <a:lnTo>
                    <a:pt x="1498428" y="74133"/>
                  </a:lnTo>
                  <a:lnTo>
                    <a:pt x="1524695" y="103749"/>
                  </a:lnTo>
                  <a:lnTo>
                    <a:pt x="1550748" y="137393"/>
                  </a:lnTo>
                  <a:lnTo>
                    <a:pt x="1576582" y="174681"/>
                  </a:lnTo>
                  <a:lnTo>
                    <a:pt x="1602194" y="215227"/>
                  </a:lnTo>
                  <a:lnTo>
                    <a:pt x="1627576" y="258644"/>
                  </a:lnTo>
                  <a:lnTo>
                    <a:pt x="1652726" y="304548"/>
                  </a:lnTo>
                  <a:lnTo>
                    <a:pt x="1677639" y="352551"/>
                  </a:lnTo>
                  <a:lnTo>
                    <a:pt x="1702309" y="402269"/>
                  </a:lnTo>
                  <a:lnTo>
                    <a:pt x="1726731" y="453316"/>
                  </a:lnTo>
                  <a:lnTo>
                    <a:pt x="1750902" y="505306"/>
                  </a:lnTo>
                  <a:lnTo>
                    <a:pt x="1774816" y="557852"/>
                  </a:lnTo>
                  <a:lnTo>
                    <a:pt x="1798468" y="610570"/>
                  </a:lnTo>
                  <a:lnTo>
                    <a:pt x="1821854" y="663073"/>
                  </a:lnTo>
                  <a:lnTo>
                    <a:pt x="1844969" y="714976"/>
                  </a:lnTo>
                  <a:lnTo>
                    <a:pt x="1867808" y="765893"/>
                  </a:lnTo>
                  <a:lnTo>
                    <a:pt x="1890366" y="815437"/>
                  </a:lnTo>
                  <a:lnTo>
                    <a:pt x="1912638" y="863224"/>
                  </a:lnTo>
                  <a:lnTo>
                    <a:pt x="1934621" y="908867"/>
                  </a:lnTo>
                  <a:lnTo>
                    <a:pt x="1956308" y="951981"/>
                  </a:lnTo>
                  <a:lnTo>
                    <a:pt x="1977696" y="992179"/>
                  </a:lnTo>
                  <a:lnTo>
                    <a:pt x="1998779" y="1029077"/>
                  </a:lnTo>
                  <a:lnTo>
                    <a:pt x="2019553" y="1062287"/>
                  </a:lnTo>
                  <a:lnTo>
                    <a:pt x="2060154" y="1116104"/>
                  </a:lnTo>
                  <a:lnTo>
                    <a:pt x="2099459" y="1150544"/>
                  </a:lnTo>
                  <a:lnTo>
                    <a:pt x="2134532" y="1166240"/>
                  </a:lnTo>
                  <a:lnTo>
                    <a:pt x="2169202" y="1170873"/>
                  </a:lnTo>
                  <a:lnTo>
                    <a:pt x="2203352" y="1165654"/>
                  </a:lnTo>
                  <a:lnTo>
                    <a:pt x="2269633" y="1130495"/>
                  </a:lnTo>
                  <a:lnTo>
                    <a:pt x="2301531" y="1102975"/>
                  </a:lnTo>
                  <a:lnTo>
                    <a:pt x="2332447" y="1070441"/>
                  </a:lnTo>
                  <a:lnTo>
                    <a:pt x="2362264" y="1034102"/>
                  </a:lnTo>
                  <a:lnTo>
                    <a:pt x="2390867" y="995167"/>
                  </a:lnTo>
                  <a:lnTo>
                    <a:pt x="2418139" y="954847"/>
                  </a:lnTo>
                  <a:lnTo>
                    <a:pt x="2443966" y="914351"/>
                  </a:lnTo>
                  <a:lnTo>
                    <a:pt x="2468230" y="874887"/>
                  </a:lnTo>
                  <a:lnTo>
                    <a:pt x="2490816" y="837667"/>
                  </a:lnTo>
                  <a:lnTo>
                    <a:pt x="2511609" y="803899"/>
                  </a:lnTo>
                  <a:lnTo>
                    <a:pt x="2530492" y="774793"/>
                  </a:lnTo>
                  <a:lnTo>
                    <a:pt x="2547349" y="751558"/>
                  </a:lnTo>
                  <a:lnTo>
                    <a:pt x="2562064" y="735404"/>
                  </a:lnTo>
                </a:path>
              </a:pathLst>
            </a:custGeom>
            <a:ln w="1047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493542" y="2134917"/>
            <a:ext cx="8463280" cy="0"/>
          </a:xfrm>
          <a:custGeom>
            <a:avLst/>
            <a:gdLst/>
            <a:ahLst/>
            <a:cxnLst/>
            <a:rect l="l" t="t" r="r" b="b"/>
            <a:pathLst>
              <a:path w="8463280" h="0">
                <a:moveTo>
                  <a:pt x="0" y="0"/>
                </a:moveTo>
                <a:lnTo>
                  <a:pt x="8462849" y="0"/>
                </a:lnTo>
              </a:path>
            </a:pathLst>
          </a:custGeom>
          <a:ln w="41909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479163" y="5150338"/>
            <a:ext cx="796290" cy="662940"/>
            <a:chOff x="479163" y="5150338"/>
            <a:chExt cx="796290" cy="662940"/>
          </a:xfrm>
        </p:grpSpPr>
        <p:sp>
          <p:nvSpPr>
            <p:cNvPr id="26" name="object 26"/>
            <p:cNvSpPr/>
            <p:nvPr/>
          </p:nvSpPr>
          <p:spPr>
            <a:xfrm>
              <a:off x="496250" y="5207464"/>
              <a:ext cx="7620" cy="581660"/>
            </a:xfrm>
            <a:custGeom>
              <a:avLst/>
              <a:gdLst/>
              <a:ahLst/>
              <a:cxnLst/>
              <a:rect l="l" t="t" r="r" b="b"/>
              <a:pathLst>
                <a:path w="7620" h="581660">
                  <a:moveTo>
                    <a:pt x="0" y="581567"/>
                  </a:moveTo>
                  <a:lnTo>
                    <a:pt x="7341" y="0"/>
                  </a:lnTo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4878" y="5156053"/>
              <a:ext cx="37465" cy="52069"/>
            </a:xfrm>
            <a:custGeom>
              <a:avLst/>
              <a:gdLst/>
              <a:ahLst/>
              <a:cxnLst/>
              <a:rect l="l" t="t" r="r" b="b"/>
              <a:pathLst>
                <a:path w="37465" h="52070">
                  <a:moveTo>
                    <a:pt x="37425" y="51647"/>
                  </a:moveTo>
                  <a:lnTo>
                    <a:pt x="0" y="51174"/>
                  </a:lnTo>
                  <a:lnTo>
                    <a:pt x="19361" y="0"/>
                  </a:lnTo>
                  <a:lnTo>
                    <a:pt x="37425" y="516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4878" y="5156053"/>
              <a:ext cx="37465" cy="52069"/>
            </a:xfrm>
            <a:custGeom>
              <a:avLst/>
              <a:gdLst/>
              <a:ahLst/>
              <a:cxnLst/>
              <a:rect l="l" t="t" r="r" b="b"/>
              <a:pathLst>
                <a:path w="37465" h="52070">
                  <a:moveTo>
                    <a:pt x="37425" y="51647"/>
                  </a:moveTo>
                  <a:lnTo>
                    <a:pt x="19361" y="0"/>
                  </a:lnTo>
                  <a:lnTo>
                    <a:pt x="0" y="51174"/>
                  </a:lnTo>
                  <a:lnTo>
                    <a:pt x="37425" y="51647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3576" y="5786386"/>
              <a:ext cx="724535" cy="2540"/>
            </a:xfrm>
            <a:custGeom>
              <a:avLst/>
              <a:gdLst/>
              <a:ahLst/>
              <a:cxnLst/>
              <a:rect l="l" t="t" r="r" b="b"/>
              <a:pathLst>
                <a:path w="724535" h="2539">
                  <a:moveTo>
                    <a:pt x="0" y="0"/>
                  </a:moveTo>
                  <a:lnTo>
                    <a:pt x="724517" y="2282"/>
                  </a:lnTo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18035" y="576995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0" y="37427"/>
                  </a:moveTo>
                  <a:lnTo>
                    <a:pt x="117" y="0"/>
                  </a:lnTo>
                  <a:lnTo>
                    <a:pt x="51475" y="18875"/>
                  </a:lnTo>
                  <a:lnTo>
                    <a:pt x="0" y="374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218035" y="576995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0" y="37427"/>
                  </a:moveTo>
                  <a:lnTo>
                    <a:pt x="51475" y="18875"/>
                  </a:lnTo>
                  <a:lnTo>
                    <a:pt x="117" y="0"/>
                  </a:lnTo>
                  <a:lnTo>
                    <a:pt x="0" y="37427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91672" y="5301294"/>
              <a:ext cx="612775" cy="344805"/>
            </a:xfrm>
            <a:custGeom>
              <a:avLst/>
              <a:gdLst/>
              <a:ahLst/>
              <a:cxnLst/>
              <a:rect l="l" t="t" r="r" b="b"/>
              <a:pathLst>
                <a:path w="612775" h="344804">
                  <a:moveTo>
                    <a:pt x="0" y="344616"/>
                  </a:moveTo>
                  <a:lnTo>
                    <a:pt x="10932" y="304067"/>
                  </a:lnTo>
                  <a:lnTo>
                    <a:pt x="26501" y="244216"/>
                  </a:lnTo>
                  <a:lnTo>
                    <a:pt x="44722" y="188176"/>
                  </a:lnTo>
                  <a:lnTo>
                    <a:pt x="63605" y="159057"/>
                  </a:lnTo>
                  <a:lnTo>
                    <a:pt x="83814" y="177360"/>
                  </a:lnTo>
                  <a:lnTo>
                    <a:pt x="106012" y="225981"/>
                  </a:lnTo>
                  <a:lnTo>
                    <a:pt x="128210" y="271621"/>
                  </a:lnTo>
                  <a:lnTo>
                    <a:pt x="148422" y="280981"/>
                  </a:lnTo>
                  <a:lnTo>
                    <a:pt x="159855" y="251269"/>
                  </a:lnTo>
                  <a:lnTo>
                    <a:pt x="169927" y="197333"/>
                  </a:lnTo>
                  <a:lnTo>
                    <a:pt x="179411" y="132205"/>
                  </a:lnTo>
                  <a:lnTo>
                    <a:pt x="189079" y="68918"/>
                  </a:lnTo>
                  <a:lnTo>
                    <a:pt x="199704" y="20505"/>
                  </a:lnTo>
                  <a:lnTo>
                    <a:pt x="212057" y="0"/>
                  </a:lnTo>
                  <a:lnTo>
                    <a:pt x="226838" y="16519"/>
                  </a:lnTo>
                  <a:lnTo>
                    <a:pt x="243569" y="61460"/>
                  </a:lnTo>
                  <a:lnTo>
                    <a:pt x="261256" y="121276"/>
                  </a:lnTo>
                  <a:lnTo>
                    <a:pt x="278906" y="182416"/>
                  </a:lnTo>
                  <a:lnTo>
                    <a:pt x="295527" y="231333"/>
                  </a:lnTo>
                  <a:lnTo>
                    <a:pt x="310124" y="254479"/>
                  </a:lnTo>
                  <a:lnTo>
                    <a:pt x="323848" y="242094"/>
                  </a:lnTo>
                  <a:lnTo>
                    <a:pt x="334647" y="201632"/>
                  </a:lnTo>
                  <a:lnTo>
                    <a:pt x="344684" y="148807"/>
                  </a:lnTo>
                  <a:lnTo>
                    <a:pt x="356120" y="99332"/>
                  </a:lnTo>
                  <a:lnTo>
                    <a:pt x="371115" y="68923"/>
                  </a:lnTo>
                  <a:lnTo>
                    <a:pt x="397122" y="63355"/>
                  </a:lnTo>
                  <a:lnTo>
                    <a:pt x="428095" y="76054"/>
                  </a:lnTo>
                  <a:lnTo>
                    <a:pt x="459069" y="92480"/>
                  </a:lnTo>
                  <a:lnTo>
                    <a:pt x="485076" y="98095"/>
                  </a:lnTo>
                  <a:lnTo>
                    <a:pt x="503925" y="86186"/>
                  </a:lnTo>
                  <a:lnTo>
                    <a:pt x="518553" y="65453"/>
                  </a:lnTo>
                  <a:lnTo>
                    <a:pt x="531691" y="44472"/>
                  </a:lnTo>
                  <a:lnTo>
                    <a:pt x="546067" y="31817"/>
                  </a:lnTo>
                  <a:lnTo>
                    <a:pt x="563812" y="31465"/>
                  </a:lnTo>
                  <a:lnTo>
                    <a:pt x="583003" y="38280"/>
                  </a:lnTo>
                  <a:lnTo>
                    <a:pt x="600289" y="47166"/>
                  </a:lnTo>
                  <a:lnTo>
                    <a:pt x="612316" y="53028"/>
                  </a:lnTo>
                </a:path>
              </a:pathLst>
            </a:custGeom>
            <a:ln w="11329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12410" y="5777360"/>
            <a:ext cx="16827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526164" y="5133775"/>
            <a:ext cx="297815" cy="713740"/>
            <a:chOff x="1526164" y="5133775"/>
            <a:chExt cx="297815" cy="713740"/>
          </a:xfrm>
        </p:grpSpPr>
        <p:sp>
          <p:nvSpPr>
            <p:cNvPr id="35" name="object 35"/>
            <p:cNvSpPr/>
            <p:nvPr/>
          </p:nvSpPr>
          <p:spPr>
            <a:xfrm>
              <a:off x="1531880" y="5139490"/>
              <a:ext cx="286385" cy="702310"/>
            </a:xfrm>
            <a:custGeom>
              <a:avLst/>
              <a:gdLst/>
              <a:ahLst/>
              <a:cxnLst/>
              <a:rect l="l" t="t" r="r" b="b"/>
              <a:pathLst>
                <a:path w="286385" h="702310">
                  <a:moveTo>
                    <a:pt x="238555" y="0"/>
                  </a:moveTo>
                  <a:lnTo>
                    <a:pt x="47711" y="0"/>
                  </a:lnTo>
                  <a:lnTo>
                    <a:pt x="29140" y="3749"/>
                  </a:lnTo>
                  <a:lnTo>
                    <a:pt x="13974" y="13975"/>
                  </a:lnTo>
                  <a:lnTo>
                    <a:pt x="3749" y="29140"/>
                  </a:lnTo>
                  <a:lnTo>
                    <a:pt x="0" y="47712"/>
                  </a:lnTo>
                  <a:lnTo>
                    <a:pt x="0" y="654591"/>
                  </a:lnTo>
                  <a:lnTo>
                    <a:pt x="3749" y="673163"/>
                  </a:lnTo>
                  <a:lnTo>
                    <a:pt x="13974" y="688329"/>
                  </a:lnTo>
                  <a:lnTo>
                    <a:pt x="29140" y="698554"/>
                  </a:lnTo>
                  <a:lnTo>
                    <a:pt x="47711" y="702303"/>
                  </a:lnTo>
                  <a:lnTo>
                    <a:pt x="238555" y="702303"/>
                  </a:lnTo>
                  <a:lnTo>
                    <a:pt x="257127" y="698554"/>
                  </a:lnTo>
                  <a:lnTo>
                    <a:pt x="272293" y="688329"/>
                  </a:lnTo>
                  <a:lnTo>
                    <a:pt x="282518" y="673163"/>
                  </a:lnTo>
                  <a:lnTo>
                    <a:pt x="286268" y="654591"/>
                  </a:lnTo>
                  <a:lnTo>
                    <a:pt x="286268" y="47712"/>
                  </a:lnTo>
                  <a:lnTo>
                    <a:pt x="265026" y="8016"/>
                  </a:lnTo>
                  <a:lnTo>
                    <a:pt x="257034" y="3749"/>
                  </a:lnTo>
                  <a:lnTo>
                    <a:pt x="257201" y="3749"/>
                  </a:lnTo>
                  <a:lnTo>
                    <a:pt x="247907" y="925"/>
                  </a:lnTo>
                  <a:lnTo>
                    <a:pt x="238555" y="0"/>
                  </a:lnTo>
                  <a:close/>
                </a:path>
              </a:pathLst>
            </a:custGeom>
            <a:solidFill>
              <a:srgbClr val="FCE5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531879" y="5139490"/>
              <a:ext cx="286385" cy="702310"/>
            </a:xfrm>
            <a:custGeom>
              <a:avLst/>
              <a:gdLst/>
              <a:ahLst/>
              <a:cxnLst/>
              <a:rect l="l" t="t" r="r" b="b"/>
              <a:pathLst>
                <a:path w="286385" h="702310">
                  <a:moveTo>
                    <a:pt x="0" y="47712"/>
                  </a:moveTo>
                  <a:lnTo>
                    <a:pt x="3749" y="29140"/>
                  </a:lnTo>
                  <a:lnTo>
                    <a:pt x="13974" y="13974"/>
                  </a:lnTo>
                  <a:lnTo>
                    <a:pt x="29140" y="3749"/>
                  </a:lnTo>
                  <a:lnTo>
                    <a:pt x="47712" y="0"/>
                  </a:lnTo>
                  <a:lnTo>
                    <a:pt x="238556" y="0"/>
                  </a:lnTo>
                  <a:lnTo>
                    <a:pt x="278252" y="21242"/>
                  </a:lnTo>
                  <a:lnTo>
                    <a:pt x="286268" y="47712"/>
                  </a:lnTo>
                  <a:lnTo>
                    <a:pt x="286268" y="654590"/>
                  </a:lnTo>
                  <a:lnTo>
                    <a:pt x="282519" y="673162"/>
                  </a:lnTo>
                  <a:lnTo>
                    <a:pt x="272293" y="688328"/>
                  </a:lnTo>
                  <a:lnTo>
                    <a:pt x="257127" y="698553"/>
                  </a:lnTo>
                  <a:lnTo>
                    <a:pt x="238556" y="702303"/>
                  </a:lnTo>
                  <a:lnTo>
                    <a:pt x="47712" y="702303"/>
                  </a:lnTo>
                  <a:lnTo>
                    <a:pt x="29140" y="698553"/>
                  </a:lnTo>
                  <a:lnTo>
                    <a:pt x="13974" y="688328"/>
                  </a:lnTo>
                  <a:lnTo>
                    <a:pt x="3749" y="673162"/>
                  </a:lnTo>
                  <a:lnTo>
                    <a:pt x="0" y="654590"/>
                  </a:lnTo>
                  <a:lnTo>
                    <a:pt x="0" y="47712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611566" y="5278291"/>
            <a:ext cx="126364" cy="387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90"/>
              </a:spcBef>
            </a:pPr>
            <a:r>
              <a:rPr dirty="0" sz="1150" spc="-50">
                <a:solidFill>
                  <a:srgbClr val="595959"/>
                </a:solidFill>
                <a:latin typeface="Arial"/>
                <a:cs typeface="Arial"/>
              </a:rPr>
              <a:t>T 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70629" y="5194794"/>
            <a:ext cx="1468120" cy="324485"/>
            <a:chOff x="1270629" y="5194794"/>
            <a:chExt cx="1468120" cy="324485"/>
          </a:xfrm>
        </p:grpSpPr>
        <p:sp>
          <p:nvSpPr>
            <p:cNvPr id="39" name="object 39"/>
            <p:cNvSpPr/>
            <p:nvPr/>
          </p:nvSpPr>
          <p:spPr>
            <a:xfrm>
              <a:off x="1834918" y="5489829"/>
              <a:ext cx="158115" cy="635"/>
            </a:xfrm>
            <a:custGeom>
              <a:avLst/>
              <a:gdLst/>
              <a:ahLst/>
              <a:cxnLst/>
              <a:rect l="l" t="t" r="r" b="b"/>
              <a:pathLst>
                <a:path w="158114" h="635">
                  <a:moveTo>
                    <a:pt x="0" y="247"/>
                  </a:moveTo>
                  <a:lnTo>
                    <a:pt x="157683" y="0"/>
                  </a:lnTo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92573" y="547111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59" y="37427"/>
                  </a:moveTo>
                  <a:lnTo>
                    <a:pt x="0" y="0"/>
                  </a:lnTo>
                  <a:lnTo>
                    <a:pt x="51445" y="18631"/>
                  </a:lnTo>
                  <a:lnTo>
                    <a:pt x="59" y="374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92573" y="547111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59" y="37427"/>
                  </a:moveTo>
                  <a:lnTo>
                    <a:pt x="51445" y="18631"/>
                  </a:lnTo>
                  <a:lnTo>
                    <a:pt x="0" y="0"/>
                  </a:lnTo>
                  <a:lnTo>
                    <a:pt x="59" y="37427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276344" y="5489829"/>
              <a:ext cx="158115" cy="635"/>
            </a:xfrm>
            <a:custGeom>
              <a:avLst/>
              <a:gdLst/>
              <a:ahLst/>
              <a:cxnLst/>
              <a:rect l="l" t="t" r="r" b="b"/>
              <a:pathLst>
                <a:path w="158115" h="635">
                  <a:moveTo>
                    <a:pt x="0" y="247"/>
                  </a:moveTo>
                  <a:lnTo>
                    <a:pt x="157683" y="0"/>
                  </a:lnTo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433998" y="547111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59" y="37427"/>
                  </a:moveTo>
                  <a:lnTo>
                    <a:pt x="0" y="0"/>
                  </a:lnTo>
                  <a:lnTo>
                    <a:pt x="51446" y="18631"/>
                  </a:lnTo>
                  <a:lnTo>
                    <a:pt x="59" y="374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433998" y="5471115"/>
              <a:ext cx="52069" cy="37465"/>
            </a:xfrm>
            <a:custGeom>
              <a:avLst/>
              <a:gdLst/>
              <a:ahLst/>
              <a:cxnLst/>
              <a:rect l="l" t="t" r="r" b="b"/>
              <a:pathLst>
                <a:path w="52069" h="37464">
                  <a:moveTo>
                    <a:pt x="59" y="37427"/>
                  </a:moveTo>
                  <a:lnTo>
                    <a:pt x="51446" y="18631"/>
                  </a:lnTo>
                  <a:lnTo>
                    <a:pt x="0" y="0"/>
                  </a:lnTo>
                  <a:lnTo>
                    <a:pt x="59" y="37427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99069" y="5200511"/>
              <a:ext cx="633730" cy="313055"/>
            </a:xfrm>
            <a:custGeom>
              <a:avLst/>
              <a:gdLst/>
              <a:ahLst/>
              <a:cxnLst/>
              <a:rect l="l" t="t" r="r" b="b"/>
              <a:pathLst>
                <a:path w="633730" h="313054">
                  <a:moveTo>
                    <a:pt x="581389" y="0"/>
                  </a:moveTo>
                  <a:lnTo>
                    <a:pt x="52109" y="0"/>
                  </a:lnTo>
                  <a:lnTo>
                    <a:pt x="31825" y="4094"/>
                  </a:lnTo>
                  <a:lnTo>
                    <a:pt x="15262" y="15262"/>
                  </a:lnTo>
                  <a:lnTo>
                    <a:pt x="4094" y="31825"/>
                  </a:lnTo>
                  <a:lnTo>
                    <a:pt x="0" y="52109"/>
                  </a:lnTo>
                  <a:lnTo>
                    <a:pt x="0" y="260540"/>
                  </a:lnTo>
                  <a:lnTo>
                    <a:pt x="4094" y="280823"/>
                  </a:lnTo>
                  <a:lnTo>
                    <a:pt x="15262" y="297387"/>
                  </a:lnTo>
                  <a:lnTo>
                    <a:pt x="31825" y="308554"/>
                  </a:lnTo>
                  <a:lnTo>
                    <a:pt x="52109" y="312649"/>
                  </a:lnTo>
                  <a:lnTo>
                    <a:pt x="581389" y="312649"/>
                  </a:lnTo>
                  <a:lnTo>
                    <a:pt x="601672" y="308554"/>
                  </a:lnTo>
                  <a:lnTo>
                    <a:pt x="618236" y="297387"/>
                  </a:lnTo>
                  <a:lnTo>
                    <a:pt x="629403" y="280823"/>
                  </a:lnTo>
                  <a:lnTo>
                    <a:pt x="633498" y="260540"/>
                  </a:lnTo>
                  <a:lnTo>
                    <a:pt x="633498" y="52109"/>
                  </a:lnTo>
                  <a:lnTo>
                    <a:pt x="618235" y="15262"/>
                  </a:lnTo>
                  <a:lnTo>
                    <a:pt x="581389" y="0"/>
                  </a:lnTo>
                  <a:close/>
                </a:path>
              </a:pathLst>
            </a:custGeom>
            <a:solidFill>
              <a:srgbClr val="FFE5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99069" y="5200509"/>
              <a:ext cx="633730" cy="313055"/>
            </a:xfrm>
            <a:custGeom>
              <a:avLst/>
              <a:gdLst/>
              <a:ahLst/>
              <a:cxnLst/>
              <a:rect l="l" t="t" r="r" b="b"/>
              <a:pathLst>
                <a:path w="633730" h="313054">
                  <a:moveTo>
                    <a:pt x="0" y="52109"/>
                  </a:moveTo>
                  <a:lnTo>
                    <a:pt x="4094" y="31826"/>
                  </a:lnTo>
                  <a:lnTo>
                    <a:pt x="15262" y="15262"/>
                  </a:lnTo>
                  <a:lnTo>
                    <a:pt x="31825" y="4095"/>
                  </a:lnTo>
                  <a:lnTo>
                    <a:pt x="52109" y="0"/>
                  </a:lnTo>
                  <a:lnTo>
                    <a:pt x="581389" y="0"/>
                  </a:lnTo>
                  <a:lnTo>
                    <a:pt x="618235" y="15262"/>
                  </a:lnTo>
                  <a:lnTo>
                    <a:pt x="633498" y="52109"/>
                  </a:lnTo>
                  <a:lnTo>
                    <a:pt x="633498" y="260540"/>
                  </a:lnTo>
                  <a:lnTo>
                    <a:pt x="629403" y="280823"/>
                  </a:lnTo>
                  <a:lnTo>
                    <a:pt x="618236" y="297387"/>
                  </a:lnTo>
                  <a:lnTo>
                    <a:pt x="601672" y="308555"/>
                  </a:lnTo>
                  <a:lnTo>
                    <a:pt x="581389" y="312650"/>
                  </a:lnTo>
                  <a:lnTo>
                    <a:pt x="52109" y="312650"/>
                  </a:lnTo>
                  <a:lnTo>
                    <a:pt x="31825" y="308555"/>
                  </a:lnTo>
                  <a:lnTo>
                    <a:pt x="15262" y="297387"/>
                  </a:lnTo>
                  <a:lnTo>
                    <a:pt x="4094" y="280823"/>
                  </a:lnTo>
                  <a:lnTo>
                    <a:pt x="0" y="260540"/>
                  </a:lnTo>
                  <a:lnTo>
                    <a:pt x="0" y="52109"/>
                  </a:lnTo>
                  <a:close/>
                </a:path>
              </a:pathLst>
            </a:custGeom>
            <a:ln w="1132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2229524" y="5288126"/>
            <a:ext cx="37274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latin typeface="Arial"/>
                <a:cs typeface="Arial"/>
              </a:rPr>
              <a:t>PK/PD</a:t>
            </a:r>
            <a:r>
              <a:rPr dirty="0" sz="700" spc="15">
                <a:latin typeface="Arial"/>
                <a:cs typeface="Arial"/>
              </a:rPr>
              <a:t> </a:t>
            </a:r>
            <a:r>
              <a:rPr dirty="0" sz="700" spc="-5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123439" y="5553662"/>
            <a:ext cx="584835" cy="162560"/>
            <a:chOff x="2123439" y="5553662"/>
            <a:chExt cx="584835" cy="162560"/>
          </a:xfrm>
        </p:grpSpPr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3439" y="5553662"/>
              <a:ext cx="170328" cy="16248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0654" y="5553662"/>
              <a:ext cx="170328" cy="16248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7869" y="5553662"/>
              <a:ext cx="170328" cy="16248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2160887" y="5562399"/>
            <a:ext cx="8636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595959"/>
                </a:solidFill>
                <a:latin typeface="Arial"/>
                <a:cs typeface="Arial"/>
              </a:rPr>
              <a:t>V</a:t>
            </a:r>
            <a:endParaRPr sz="7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39314" y="5541188"/>
            <a:ext cx="15557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595959"/>
                </a:solidFill>
                <a:latin typeface="Arial"/>
                <a:cs typeface="Arial"/>
              </a:rPr>
              <a:t>k</a:t>
            </a:r>
            <a:r>
              <a:rPr dirty="0" baseline="-30864" sz="675" spc="-37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baseline="-30864" sz="675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46291" y="5556279"/>
            <a:ext cx="14160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595959"/>
                </a:solidFill>
                <a:latin typeface="Arial"/>
                <a:cs typeface="Arial"/>
              </a:rPr>
              <a:t>CL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33921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Advantages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93495" marR="776605" indent="-1281430">
              <a:lnSpc>
                <a:spcPct val="1008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Stage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1: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Narrowing</a:t>
            </a:r>
            <a:r>
              <a:rPr dirty="0" spc="-10"/>
              <a:t> </a:t>
            </a:r>
            <a:r>
              <a:rPr dirty="0"/>
              <a:t>down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PK/PD</a:t>
            </a:r>
            <a:r>
              <a:rPr dirty="0" spc="-15"/>
              <a:t> </a:t>
            </a:r>
            <a:r>
              <a:rPr dirty="0"/>
              <a:t>model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improved </a:t>
            </a:r>
            <a:r>
              <a:rPr dirty="0"/>
              <a:t>efficiency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Stage</a:t>
            </a:r>
            <a:r>
              <a:rPr dirty="0" spc="-25"/>
              <a:t> 2/3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</a:p>
          <a:p>
            <a:pPr marL="1344295" marR="5080" indent="-1332230">
              <a:lnSpc>
                <a:spcPct val="100800"/>
              </a:lnSpc>
            </a:pPr>
            <a:r>
              <a:rPr dirty="0" b="1">
                <a:latin typeface="Arial"/>
                <a:cs typeface="Arial"/>
              </a:rPr>
              <a:t>Stage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2: </a:t>
            </a:r>
            <a:r>
              <a:rPr dirty="0"/>
              <a:t>A</a:t>
            </a:r>
            <a:r>
              <a:rPr dirty="0" spc="-135"/>
              <a:t> </a:t>
            </a:r>
            <a:r>
              <a:rPr dirty="0"/>
              <a:t>stochastic</a:t>
            </a:r>
            <a:r>
              <a:rPr dirty="0" spc="-5"/>
              <a:t> </a:t>
            </a:r>
            <a:r>
              <a:rPr dirty="0"/>
              <a:t>exploration of</a:t>
            </a:r>
            <a:r>
              <a:rPr dirty="0" spc="-5"/>
              <a:t> </a:t>
            </a:r>
            <a:r>
              <a:rPr dirty="0"/>
              <a:t>parameter space:</a:t>
            </a:r>
            <a:r>
              <a:rPr dirty="0" spc="-50"/>
              <a:t> </a:t>
            </a:r>
            <a:r>
              <a:rPr dirty="0" spc="-10"/>
              <a:t>Tunable </a:t>
            </a:r>
            <a:r>
              <a:rPr dirty="0"/>
              <a:t>weight</a:t>
            </a:r>
            <a:r>
              <a:rPr dirty="0" spc="-15"/>
              <a:t> </a:t>
            </a:r>
            <a:r>
              <a:rPr dirty="0"/>
              <a:t>parameter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overcome</a:t>
            </a:r>
            <a:r>
              <a:rPr dirty="0" spc="-15"/>
              <a:t> </a:t>
            </a:r>
            <a:r>
              <a:rPr dirty="0"/>
              <a:t>large</a:t>
            </a:r>
            <a:r>
              <a:rPr dirty="0" spc="-10"/>
              <a:t> potentials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</a:p>
          <a:p>
            <a:pPr marL="1292860" marR="670560" indent="-1280795">
              <a:lnSpc>
                <a:spcPct val="100800"/>
              </a:lnSpc>
            </a:pPr>
            <a:r>
              <a:rPr dirty="0" b="1">
                <a:latin typeface="Arial"/>
                <a:cs typeface="Arial"/>
              </a:rPr>
              <a:t>Stage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3: </a:t>
            </a:r>
            <a:r>
              <a:rPr dirty="0"/>
              <a:t>Quantum</a:t>
            </a:r>
            <a:r>
              <a:rPr dirty="0" spc="-5"/>
              <a:t> </a:t>
            </a:r>
            <a:r>
              <a:rPr dirty="0"/>
              <a:t>correlations that</a:t>
            </a:r>
            <a:r>
              <a:rPr dirty="0" spc="-5"/>
              <a:t> </a:t>
            </a:r>
            <a:r>
              <a:rPr dirty="0"/>
              <a:t>can’t</a:t>
            </a:r>
            <a:r>
              <a:rPr dirty="0" spc="-5"/>
              <a:t> </a:t>
            </a:r>
            <a:r>
              <a:rPr dirty="0"/>
              <a:t>be</a:t>
            </a:r>
            <a:r>
              <a:rPr dirty="0" spc="-5"/>
              <a:t> </a:t>
            </a:r>
            <a:r>
              <a:rPr dirty="0"/>
              <a:t>captured </a:t>
            </a:r>
            <a:r>
              <a:rPr dirty="0" spc="-25"/>
              <a:t>by </a:t>
            </a:r>
            <a:r>
              <a:rPr dirty="0"/>
              <a:t>classical</a:t>
            </a:r>
            <a:r>
              <a:rPr dirty="0" spc="-30"/>
              <a:t> </a:t>
            </a:r>
            <a:r>
              <a:rPr dirty="0"/>
              <a:t>relationships,</a:t>
            </a:r>
            <a:r>
              <a:rPr dirty="0" spc="-20"/>
              <a:t> </a:t>
            </a:r>
            <a:r>
              <a:rPr dirty="0"/>
              <a:t>which</a:t>
            </a:r>
            <a:r>
              <a:rPr dirty="0" spc="-20"/>
              <a:t> </a:t>
            </a:r>
            <a:r>
              <a:rPr dirty="0"/>
              <a:t>potentially</a:t>
            </a:r>
            <a:r>
              <a:rPr dirty="0" spc="-15"/>
              <a:t> </a:t>
            </a:r>
            <a:r>
              <a:rPr dirty="0" spc="-10"/>
              <a:t>provide </a:t>
            </a:r>
            <a:r>
              <a:rPr dirty="0"/>
              <a:t>fundamental</a:t>
            </a:r>
            <a:r>
              <a:rPr dirty="0" spc="-15"/>
              <a:t> </a:t>
            </a:r>
            <a:r>
              <a:rPr dirty="0"/>
              <a:t>understanding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15"/>
              <a:t> </a:t>
            </a:r>
            <a:r>
              <a:rPr dirty="0"/>
              <a:t>small</a:t>
            </a:r>
            <a:r>
              <a:rPr dirty="0" spc="-15"/>
              <a:t> </a:t>
            </a:r>
            <a:r>
              <a:rPr dirty="0" spc="-10"/>
              <a:t>datasets.</a:t>
            </a:r>
          </a:p>
        </p:txBody>
      </p:sp>
      <p:sp>
        <p:nvSpPr>
          <p:cNvPr id="4" name="object 4"/>
          <p:cNvSpPr/>
          <p:nvPr/>
        </p:nvSpPr>
        <p:spPr>
          <a:xfrm>
            <a:off x="493542" y="2134917"/>
            <a:ext cx="8463280" cy="0"/>
          </a:xfrm>
          <a:custGeom>
            <a:avLst/>
            <a:gdLst/>
            <a:ahLst/>
            <a:cxnLst/>
            <a:rect l="l" t="t" r="r" b="b"/>
            <a:pathLst>
              <a:path w="8463280" h="0">
                <a:moveTo>
                  <a:pt x="0" y="0"/>
                </a:moveTo>
                <a:lnTo>
                  <a:pt x="8462849" y="0"/>
                </a:lnTo>
              </a:path>
            </a:pathLst>
          </a:custGeom>
          <a:ln w="41909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0322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Acknowledgements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493542" y="2134917"/>
            <a:ext cx="8463280" cy="0"/>
          </a:xfrm>
          <a:custGeom>
            <a:avLst/>
            <a:gdLst/>
            <a:ahLst/>
            <a:cxnLst/>
            <a:rect l="l" t="t" r="r" b="b"/>
            <a:pathLst>
              <a:path w="8463280" h="0">
                <a:moveTo>
                  <a:pt x="0" y="0"/>
                </a:moveTo>
                <a:lnTo>
                  <a:pt x="8462849" y="0"/>
                </a:lnTo>
              </a:path>
            </a:pathLst>
          </a:custGeom>
          <a:ln w="41909">
            <a:solidFill>
              <a:srgbClr val="FF99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53039" y="2538672"/>
            <a:ext cx="1613535" cy="1655445"/>
            <a:chOff x="953039" y="2538672"/>
            <a:chExt cx="1613535" cy="1655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472" y="2570104"/>
              <a:ext cx="1550667" cy="15920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8755" y="2554388"/>
              <a:ext cx="1582420" cy="1623695"/>
            </a:xfrm>
            <a:custGeom>
              <a:avLst/>
              <a:gdLst/>
              <a:ahLst/>
              <a:cxnLst/>
              <a:rect l="l" t="t" r="r" b="b"/>
              <a:pathLst>
                <a:path w="1582420" h="1623695">
                  <a:moveTo>
                    <a:pt x="0" y="0"/>
                  </a:moveTo>
                  <a:lnTo>
                    <a:pt x="1582099" y="0"/>
                  </a:lnTo>
                  <a:lnTo>
                    <a:pt x="1582099" y="1623517"/>
                  </a:lnTo>
                  <a:lnTo>
                    <a:pt x="0" y="1623517"/>
                  </a:lnTo>
                  <a:lnTo>
                    <a:pt x="0" y="0"/>
                  </a:lnTo>
                  <a:close/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797877" y="2538672"/>
            <a:ext cx="1348740" cy="1655445"/>
            <a:chOff x="2797877" y="2538672"/>
            <a:chExt cx="1348740" cy="16554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9309" y="2570105"/>
              <a:ext cx="1285542" cy="15920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13593" y="2554388"/>
              <a:ext cx="1316990" cy="1623695"/>
            </a:xfrm>
            <a:custGeom>
              <a:avLst/>
              <a:gdLst/>
              <a:ahLst/>
              <a:cxnLst/>
              <a:rect l="l" t="t" r="r" b="b"/>
              <a:pathLst>
                <a:path w="1316989" h="1623695">
                  <a:moveTo>
                    <a:pt x="0" y="0"/>
                  </a:moveTo>
                  <a:lnTo>
                    <a:pt x="1316975" y="0"/>
                  </a:lnTo>
                  <a:lnTo>
                    <a:pt x="1316975" y="1623517"/>
                  </a:lnTo>
                  <a:lnTo>
                    <a:pt x="0" y="1623517"/>
                  </a:lnTo>
                  <a:lnTo>
                    <a:pt x="0" y="0"/>
                  </a:lnTo>
                  <a:close/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275504" y="2538672"/>
            <a:ext cx="1496060" cy="1655445"/>
            <a:chOff x="4275504" y="2538672"/>
            <a:chExt cx="1496060" cy="16554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06936" y="2570105"/>
              <a:ext cx="1432891" cy="15920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91220" y="2554388"/>
              <a:ext cx="1464945" cy="1623695"/>
            </a:xfrm>
            <a:custGeom>
              <a:avLst/>
              <a:gdLst/>
              <a:ahLst/>
              <a:cxnLst/>
              <a:rect l="l" t="t" r="r" b="b"/>
              <a:pathLst>
                <a:path w="1464945" h="1623695">
                  <a:moveTo>
                    <a:pt x="0" y="0"/>
                  </a:moveTo>
                  <a:lnTo>
                    <a:pt x="1464323" y="0"/>
                  </a:lnTo>
                  <a:lnTo>
                    <a:pt x="1464323" y="1623517"/>
                  </a:lnTo>
                  <a:lnTo>
                    <a:pt x="0" y="1623517"/>
                  </a:lnTo>
                  <a:lnTo>
                    <a:pt x="0" y="0"/>
                  </a:lnTo>
                  <a:close/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847131" y="2538672"/>
            <a:ext cx="1316990" cy="1655445"/>
            <a:chOff x="5847131" y="2538672"/>
            <a:chExt cx="1316990" cy="165544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8564" y="2570104"/>
              <a:ext cx="1253835" cy="15920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62848" y="2554388"/>
              <a:ext cx="1285875" cy="1623695"/>
            </a:xfrm>
            <a:custGeom>
              <a:avLst/>
              <a:gdLst/>
              <a:ahLst/>
              <a:cxnLst/>
              <a:rect l="l" t="t" r="r" b="b"/>
              <a:pathLst>
                <a:path w="1285875" h="1623695">
                  <a:moveTo>
                    <a:pt x="0" y="0"/>
                  </a:moveTo>
                  <a:lnTo>
                    <a:pt x="1285267" y="0"/>
                  </a:lnTo>
                  <a:lnTo>
                    <a:pt x="1285267" y="1623517"/>
                  </a:lnTo>
                  <a:lnTo>
                    <a:pt x="0" y="1623517"/>
                  </a:lnTo>
                  <a:lnTo>
                    <a:pt x="0" y="0"/>
                  </a:lnTo>
                  <a:close/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7271411" y="2538672"/>
            <a:ext cx="1439545" cy="1655445"/>
            <a:chOff x="7271411" y="2538672"/>
            <a:chExt cx="1439545" cy="165544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2845" y="2570105"/>
              <a:ext cx="1376102" cy="15920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87128" y="2554388"/>
              <a:ext cx="1407795" cy="1623695"/>
            </a:xfrm>
            <a:custGeom>
              <a:avLst/>
              <a:gdLst/>
              <a:ahLst/>
              <a:cxnLst/>
              <a:rect l="l" t="t" r="r" b="b"/>
              <a:pathLst>
                <a:path w="1407795" h="1623695">
                  <a:moveTo>
                    <a:pt x="0" y="0"/>
                  </a:moveTo>
                  <a:lnTo>
                    <a:pt x="1407535" y="0"/>
                  </a:lnTo>
                  <a:lnTo>
                    <a:pt x="1407535" y="1623517"/>
                  </a:lnTo>
                  <a:lnTo>
                    <a:pt x="0" y="1623517"/>
                  </a:lnTo>
                  <a:lnTo>
                    <a:pt x="0" y="0"/>
                  </a:lnTo>
                  <a:close/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111264" y="4276783"/>
            <a:ext cx="129730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Prineha</a:t>
            </a:r>
            <a:r>
              <a:rPr dirty="0" sz="1400" spc="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Narang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3998" y="4276783"/>
            <a:ext cx="127635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William</a:t>
            </a:r>
            <a:r>
              <a:rPr dirty="0" sz="1400" spc="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Munizzi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6026" y="4276783"/>
            <a:ext cx="105473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Aman</a:t>
            </a:r>
            <a:r>
              <a:rPr dirty="0" sz="1400" spc="5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Mehta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10065" y="4276783"/>
            <a:ext cx="82296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Jack</a:t>
            </a:r>
            <a:r>
              <a:rPr dirty="0" sz="1400" spc="6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Diab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5460" y="4276783"/>
            <a:ext cx="76200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Scott</a:t>
            </a:r>
            <a:r>
              <a:rPr dirty="0" sz="1400" spc="4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Nie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69494" y="5151447"/>
            <a:ext cx="6302375" cy="740410"/>
          </a:xfrm>
          <a:prstGeom prst="rect">
            <a:avLst/>
          </a:prstGeom>
          <a:ln w="31432">
            <a:solidFill>
              <a:srgbClr val="000000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690"/>
              </a:spcBef>
            </a:pPr>
            <a:r>
              <a:rPr dirty="0" sz="1950">
                <a:latin typeface="Arial"/>
                <a:cs typeface="Arial"/>
              </a:rPr>
              <a:t>Quantum</a:t>
            </a:r>
            <a:r>
              <a:rPr dirty="0" sz="1950" spc="6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Innovation</a:t>
            </a:r>
            <a:r>
              <a:rPr dirty="0" sz="1950" spc="6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Challenge</a:t>
            </a:r>
            <a:r>
              <a:rPr dirty="0" sz="1950" spc="6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Organizing</a:t>
            </a:r>
            <a:r>
              <a:rPr dirty="0" sz="1950" spc="65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Committee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Quantum and ML PK-PD Modeling utilizing QIHMC, QNN</dc:title>
  <dcterms:created xsi:type="dcterms:W3CDTF">2025-11-10T12:58:58Z</dcterms:created>
  <dcterms:modified xsi:type="dcterms:W3CDTF">2025-11-10T12:58:58Z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2025-11-10T00:00:00Z</vt:filetime>
  </property>
  <property fmtid="{D5CDD505-2E9C-101B-9397-08002B2CF9AE}" pid="5" name="Producer">
    <vt:lpwstr>iOS Version 18.6.2 (Build 22G100) Quartz PDFContext</vt:lpwstr>
  </property>
</Properties>
</file>